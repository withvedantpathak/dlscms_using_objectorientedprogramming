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1A2B"/>
                </a:solidFill>
                <a:latin typeface="+mn-lt"/>
              </a:defRPr>
            </a:pPr>
            <a:r>
              <a:rPr sz="1200" b="0" i="0" u="none" strike="noStrike">
                <a:solidFill>
                  <a:srgbClr val="0E1A2B"/>
                </a:solidFill>
                <a:latin typeface="+mn-lt"/>
              </a:rPr>
              <a:t>Mean lead time in hours (lower is faster)</a:t>
            </a:r>
          </a:p>
        </c:rich>
      </c:tx>
      <c:layout/>
      <c:overlay val="0"/>
    </c:title>
    <c:autoTitleDeleted val="0"/>
    <c:plotArea>
      <c:layout/>
      <c:barChart>
        <c:barDir val="col"/>
        <c:grouping val="clustered"/>
        <c:varyColors val="0"/>
        <c:ser>
          <c:idx val="0"/>
          <c:order val="0"/>
          <c:tx>
            <c:strRef>
              <c:f>Sheet1!$B$1</c:f>
              <c:strCache>
                <c:ptCount val="1"/>
                <c:pt idx="0">
                  <c:v>NEAREST</c:v>
                </c:pt>
              </c:strCache>
            </c:strRef>
          </c:tx>
          <c:spPr>
            <a:solidFill>
              <a:srgbClr val="2F6FA8"/>
            </a:solidFill>
            <a:effectLst/>
          </c:spPr>
          <c:invertIfNegative val="0"/>
          <c:dLbls>
            <c:numFmt formatCode="0.0" sourceLinked="0"/>
            <c:txPr>
              <a:bodyPr/>
              <a:lstStyle/>
              <a:p>
                <a:pPr>
                  <a:defRPr b="0" i="0" strike="noStrike" sz="1000" u="none">
                    <a:solidFill>
                      <a:srgbClr val="0E1A2B"/>
                    </a:solidFill>
                    <a:latin typeface="+mn-lt"/>
                  </a:defRPr>
                </a:pPr>
              </a:p>
            </c:txPr>
            <c:showLegendKey val="0"/>
            <c:showVal val="1"/>
            <c:showCatName val="0"/>
            <c:showSerName val="0"/>
            <c:showPercent val="0"/>
            <c:showBubbleSize val="0"/>
            <c:showLeaderLines val="0"/>
          </c:dLbls>
          <c:cat>
            <c:multiLvlStrRef>
              <c:f>Sheet1!$A$2:$A$4</c:f>
              <c:multiLvlStrCache>
                <c:ptCount val="3"/>
                <c:lvl>
                  <c:pt idx="0">
                    <c:v>Small</c:v>
                  </c:pt>
                  <c:pt idx="1">
                    <c:v>Medium</c:v>
                  </c:pt>
                  <c:pt idx="2">
                    <c:v>Large</c:v>
                  </c:pt>
                </c:lvl>
              </c:multiLvlStrCache>
            </c:multiLvlStrRef>
          </c:cat>
          <c:val>
            <c:numRef>
              <c:f>Sheet1!$B$2:$B$4</c:f>
              <c:numCache>
                <c:formatCode>General</c:formatCode>
                <c:ptCount val="3"/>
                <c:pt idx="0">
                  <c:v>24.3</c:v>
                </c:pt>
                <c:pt idx="1">
                  <c:v>32.2</c:v>
                </c:pt>
                <c:pt idx="2">
                  <c:v>34.8</c:v>
                </c:pt>
              </c:numCache>
            </c:numRef>
          </c:val>
        </c:ser>
        <c:ser>
          <c:idx val="1"/>
          <c:order val="1"/>
          <c:tx>
            <c:strRef>
              <c:f>Sheet1!$C$1</c:f>
              <c:strCache>
                <c:ptCount val="1"/>
                <c:pt idx="0">
                  <c:v>SURPLUS</c:v>
                </c:pt>
              </c:strCache>
            </c:strRef>
          </c:tx>
          <c:spPr>
            <a:solidFill>
              <a:srgbClr val="F2A33A"/>
            </a:solidFill>
            <a:effectLst/>
          </c:spPr>
          <c:invertIfNegative val="0"/>
          <c:dLbls>
            <c:numFmt formatCode="0.0" sourceLinked="0"/>
            <c:txPr>
              <a:bodyPr/>
              <a:lstStyle/>
              <a:p>
                <a:pPr>
                  <a:defRPr b="0" i="0" strike="noStrike" sz="1000" u="none">
                    <a:solidFill>
                      <a:srgbClr val="0E1A2B"/>
                    </a:solidFill>
                    <a:latin typeface="+mn-lt"/>
                  </a:defRPr>
                </a:pPr>
              </a:p>
            </c:txPr>
            <c:showLegendKey val="0"/>
            <c:showVal val="1"/>
            <c:showCatName val="0"/>
            <c:showSerName val="0"/>
            <c:showPercent val="0"/>
            <c:showBubbleSize val="0"/>
            <c:showLeaderLines val="0"/>
          </c:dLbls>
          <c:cat>
            <c:multiLvlStrRef>
              <c:f>Sheet1!$A$2:$A$4</c:f>
              <c:multiLvlStrCache>
                <c:ptCount val="3"/>
                <c:lvl>
                  <c:pt idx="0">
                    <c:v>Small</c:v>
                  </c:pt>
                  <c:pt idx="1">
                    <c:v>Medium</c:v>
                  </c:pt>
                  <c:pt idx="2">
                    <c:v>Large</c:v>
                  </c:pt>
                </c:lvl>
              </c:multiLvlStrCache>
            </c:multiLvlStrRef>
          </c:cat>
          <c:val>
            <c:numRef>
              <c:f>Sheet1!$C$2:$C$4</c:f>
              <c:numCache>
                <c:formatCode>General</c:formatCode>
                <c:ptCount val="3"/>
                <c:pt idx="0">
                  <c:v>26.5</c:v>
                </c:pt>
                <c:pt idx="1">
                  <c:v>36.3</c:v>
                </c:pt>
                <c:pt idx="2">
                  <c:v>40</c:v>
                </c:pt>
              </c:numCache>
            </c:numRef>
          </c:val>
        </c:ser>
        <c:ser>
          <c:idx val="2"/>
          <c:order val="2"/>
          <c:tx>
            <c:strRef>
              <c:f>Sheet1!$D$1</c:f>
              <c:strCache>
                <c:ptCount val="1"/>
                <c:pt idx="0">
                  <c:v>BALANCED</c:v>
                </c:pt>
              </c:strCache>
            </c:strRef>
          </c:tx>
          <c:spPr>
            <a:solidFill>
              <a:srgbClr val="3E9B6B"/>
            </a:solidFill>
            <a:effectLst/>
          </c:spPr>
          <c:invertIfNegative val="0"/>
          <c:dLbls>
            <c:numFmt formatCode="0.0" sourceLinked="0"/>
            <c:txPr>
              <a:bodyPr/>
              <a:lstStyle/>
              <a:p>
                <a:pPr>
                  <a:defRPr b="0" i="0" strike="noStrike" sz="1000" u="none">
                    <a:solidFill>
                      <a:srgbClr val="0E1A2B"/>
                    </a:solidFill>
                    <a:latin typeface="+mn-lt"/>
                  </a:defRPr>
                </a:pPr>
              </a:p>
            </c:txPr>
            <c:showLegendKey val="0"/>
            <c:showVal val="1"/>
            <c:showCatName val="0"/>
            <c:showSerName val="0"/>
            <c:showPercent val="0"/>
            <c:showBubbleSize val="0"/>
            <c:showLeaderLines val="0"/>
          </c:dLbls>
          <c:cat>
            <c:multiLvlStrRef>
              <c:f>Sheet1!$A$2:$A$4</c:f>
              <c:multiLvlStrCache>
                <c:ptCount val="3"/>
                <c:lvl>
                  <c:pt idx="0">
                    <c:v>Small</c:v>
                  </c:pt>
                  <c:pt idx="1">
                    <c:v>Medium</c:v>
                  </c:pt>
                  <c:pt idx="2">
                    <c:v>Large</c:v>
                  </c:pt>
                </c:lvl>
              </c:multiLvlStrCache>
            </c:multiLvlStrRef>
          </c:cat>
          <c:val>
            <c:numRef>
              <c:f>Sheet1!$D$2:$D$4</c:f>
              <c:numCache>
                <c:formatCode>General</c:formatCode>
                <c:ptCount val="3"/>
                <c:pt idx="0">
                  <c:v>22.9</c:v>
                </c:pt>
                <c:pt idx="1">
                  <c:v>29.2</c:v>
                </c:pt>
                <c:pt idx="2">
                  <c:v>28.4</c:v>
                </c:pt>
              </c:numCache>
            </c:numRef>
          </c:val>
        </c:ser>
        <c:ser>
          <c:idx val="3"/>
          <c:order val="3"/>
          <c:tx>
            <c:strRef>
              <c:f>Sheet1!$E$1</c:f>
              <c:strCache>
                <c:ptCount val="1"/>
                <c:pt idx="0">
                  <c:v>RANDOM</c:v>
                </c:pt>
              </c:strCache>
            </c:strRef>
          </c:tx>
          <c:spPr>
            <a:solidFill>
              <a:srgbClr val="9AA0AA"/>
            </a:solidFill>
            <a:effectLst/>
          </c:spPr>
          <c:invertIfNegative val="0"/>
          <c:dLbls>
            <c:numFmt formatCode="0.0" sourceLinked="0"/>
            <c:txPr>
              <a:bodyPr/>
              <a:lstStyle/>
              <a:p>
                <a:pPr>
                  <a:defRPr b="0" i="0" strike="noStrike" sz="1000" u="none">
                    <a:solidFill>
                      <a:srgbClr val="0E1A2B"/>
                    </a:solidFill>
                    <a:latin typeface="+mn-lt"/>
                  </a:defRPr>
                </a:pPr>
              </a:p>
            </c:txPr>
            <c:showLegendKey val="0"/>
            <c:showVal val="1"/>
            <c:showCatName val="0"/>
            <c:showSerName val="0"/>
            <c:showPercent val="0"/>
            <c:showBubbleSize val="0"/>
            <c:showLeaderLines val="0"/>
          </c:dLbls>
          <c:cat>
            <c:multiLvlStrRef>
              <c:f>Sheet1!$A$2:$A$4</c:f>
              <c:multiLvlStrCache>
                <c:ptCount val="3"/>
                <c:lvl>
                  <c:pt idx="0">
                    <c:v>Small</c:v>
                  </c:pt>
                  <c:pt idx="1">
                    <c:v>Medium</c:v>
                  </c:pt>
                  <c:pt idx="2">
                    <c:v>Large</c:v>
                  </c:pt>
                </c:lvl>
              </c:multiLvlStrCache>
            </c:multiLvlStrRef>
          </c:cat>
          <c:val>
            <c:numRef>
              <c:f>Sheet1!$E$2:$E$4</c:f>
              <c:numCache>
                <c:formatCode>General</c:formatCode>
                <c:ptCount val="3"/>
                <c:pt idx="0">
                  <c:v>34</c:v>
                </c:pt>
                <c:pt idx="1">
                  <c:v>48.7</c:v>
                </c:pt>
                <c:pt idx="2">
                  <c:v>55.7</c:v>
                </c:pt>
              </c:numCache>
            </c:numRef>
          </c:val>
        </c:ser>
        <c:dLbls>
          <c:numFmt formatCode="0.0" sourceLinked="0"/>
          <c:txPr>
            <a:bodyPr/>
            <a:lstStyle/>
            <a:p>
              <a:pPr>
                <a:defRPr b="0" i="0" strike="noStrike" sz="1000" u="none">
                  <a:solidFill>
                    <a:srgbClr val="0E1A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E1A2B"/>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2DD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A828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E1A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project we built a complete system, in Java, that moves stock between military supply bases: it takes a request, decides which base should give the stock, which vehicle should carry it, updates the inventory and reports the result. The talk follows the report: the problem, our idea, how the design uses the object-oriented concepts from the course, a live demo, then the evidence and the limits. Everything runs offline and all data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picture: a network of bases. Each base holds stock such as medical kits, food, fuel, spares and shelter, and has a fleet of trucks, medical vans and helicopters. When a base falls short, a person has to decide which other base gives the stock, which vehicle carries it, and in what order to serve requests, without draining the donor. By hand that is slow. In our largest generated scenario there are 12 bases, 60 vehicles and 1,000 requests over 60 days, and 35 base-and-item pairs start below their safe level. All data is synthetic; no real defence data is used. So our question is: can one system make these choices for every request, and can we measure which rule works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dispatcher's desk. The obvious way, on the left, is a person comparing every base with every other base and every vehicle, by hand. Our way, on the right, is six steps the system handles: a base raises a request, a commander approves it, one rule picks the donor base, another rule picks the vehicle, the delivery runs, and the reports update. Here is a real result from our example network. Pune is short of medical kits: it has 40 and its safe level is 120. A request for 200 kits is raised. The system picks Mumbai as the donor, 120 kilometres away, and helicopter HE-01 as the fastest carrier, and the delivery arrives in one hour. We will see this live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shape of the program. At the top is the terminal screen. Everything the screen does goes through one class, the LogisticsManager. We call it a facade, like the front desk of an office: you do not walk into each department yourself. Behind it are five services, for inventory, fleet, requests, deliveries and reports, and the strategy package holding the rules that choose a donor base and a vehicle. At the bottom are the building blocks: the model classes such as Base, Supply, Request, Delivery and the Vehicle family, the persistence package that saves and loads CSV files, the exception package, and small utilities. A separate sim package replays whole scenarios, and it is what produced the 1,080 experiment runs we show later. Packages are one of the course concepts, and the next slide shows all eleven.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eleven concepts from the project brief, and where each one lives in our code. Classes and objects: Base, Supply, Vehicle, Request and Delivery. Encapsulation: every field is private and constructors validate their input, like a locked cabinet with a front desk. Inheritance and abstraction: Vehicle is an abstract class, and Truck, FuelTruck, MedicalVan and Helicopter extend it. Polymorphism: we ask any vehicle how long a trip takes and each answers in its own way, a helicopter ignores roads, a fuel truck loads slowly. Interfaces: Trackable, Deliverable and Persistable can be worn by unrelated classes. Collections and generics: ArrayList and HashMap, and typed helpers such as CsvRepository of T. Exceptions: seven classes under LogisticsException, so a bad ID shows a message instead of crashing the program. File handling: save and load as CSV. Packages: nine sub-packages. On top of the eleven, the design uses Facade and Strategy patterns. Each of these has a test class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blueprint. On the left is the domain model: the abstract Vehicle at the centre with its four subclasses, the entities Base, Supply, SupplyRequest and Delivery, and the three interfaces at the top. On the right are the services, the two families of strategies and the LogisticsManager that ties them together. Dashed arrows with hollow heads mean a class implements an interface; solid arrows with hollow heads mean inheritance. The exception hierarchy and the sequence diagram for the Pune scenario are in the UML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polymorphism and abstraction put to work. Choosing a donor base is a rule, and we wrote three: nearest first, most surplus, and balanced, which scores half on distance and half on spare stock. Choosing a vehicle is a second rule: smallest fit, or fastest. There is also a random rule for each, used only as a baseline to beat. Each rule is a small class behind an interface, handed to the LogisticsManager when it is created, so changing the behaviour of the whole system means swapping one object. In the terminal you can do it live with the STRAT command, and the same rules drive the experiments you will see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about five minutes. Open a terminal in the project folder and run run.bat. The screen is the dashboard: shortages, open requests, deliveries and the fleet. Step one: type REQ NEW PUN MED-KIT 200 URGENT, then REQ APPROVE R-0001. Step two: REQ FULFIL R-0001. The donor rule and the vehicle rule choose, and you see delivery D-0001 from Mumbai to Pune on helicopter HE-01. DLV DISPATCH D-0001 sends it. Step three: TICK 12 moves the simulated clock twelve hours, the delivery arrives, and RPT KPI shows a fulfilment rate of 100 percent and a lead time of one hour. Finish by switching the rule with STRAT SRC BALANCED and raising another request to show a different donor can be chosen. If anything goes wrong, run.bat with the demo flag auto-plays the same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our claim is that the system works and that one rule beats another, we put effort into checking it. There are 119 unit tests in 21 test classes, and a test matrix confirms that every one of the 66 classes and types has at least one test. For the findings we ran 1,080 simulations: three dataset sizes, 30 random seeds each, and 12 pairs of donor and vehicle rules, including random baselines. We compared the rules with paired Wilcoxon tests and corrected for running many tests at once with the Holm method: of 93 comparisons, 81 are significant before correction and 74 remain so after it. Finally, a script reruns the experiments and confirms the same seed gives the same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payoff. The chart shows mean lead time, from request to full delivery, for each donor rule at three dataset sizes, with the fastest vehicle rule. The grey random baseline is slowest everywhere. On the large dataset BALANCED takes 28.4 hours against 34.8 for NEAREST, 6.3 hours faster, and that difference is significant after correction. On the small dataset the 1.4 hour gap is not significant, so we only claim BALANCED is best from medium size upward. Coordinated rules against the random baseline: 34.8 hours against 84.5 on the large dataset. The random baseline is deliberately weak, so that gap is an upper bound on practical benefit. There is a trade-off: NEAREST drives the fewest kilometres, BALANCED about 2.6 percent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design uses a facade, swappable strategies and an abstract Vehicle hierarchy, which together cover all eleven object-oriented concepts in the brief. The experiments show BALANCED is up to 6.3 hours faster than NEAREST on medium and larger networks, and that coordination cuts the lead time by 47 to 59 percent against a random baseline. The limits: the data is synthetic, distances are straight lines, and the random baseline is weak by design. About two percent of requests remain open at the end of a run, mostly fuel requests, because the generator gives only about 15 percent of the fleet to fuel trucks and they are slow; we did not test a longer horizon or a bigger fuel fleet, so we cannot say how many would eventually be served. Next steps are a longer horizon, stronger baselines and a real road network. For questions: no, this is not real defence data, and the open requests are explained by the reorder floor and the small fuel fleet.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ARM">
    <p:bg>
      <p:bgPr>
        <a:solidFill>
          <a:schemeClr val="accent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withvedantpathak/DLSCMS_using_ObjectOrientedProgramming" TargetMode="External"/><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ng"/>
          <p:cNvSpPr/>
          <p:nvPr/>
        </p:nvSpPr>
        <p:spPr>
          <a:xfrm>
            <a:off x="6217920" y="502920"/>
            <a:ext cx="5852160" cy="5852160"/>
          </a:xfrm>
          <a:prstGeom prst="ellipse">
            <a:avLst/>
          </a:prstGeom>
          <a:ln w="12700">
            <a:solidFill>
              <a:srgbClr val="2A3B57"/>
            </a:solidFill>
            <a:prstDash val="solid"/>
          </a:ln>
        </p:spPr>
      </p:sp>
      <p:sp>
        <p:nvSpPr>
          <p:cNvPr id="3" name="Ring"/>
          <p:cNvSpPr/>
          <p:nvPr/>
        </p:nvSpPr>
        <p:spPr>
          <a:xfrm>
            <a:off x="7223760" y="1508760"/>
            <a:ext cx="3840480" cy="3840480"/>
          </a:xfrm>
          <a:prstGeom prst="ellipse">
            <a:avLst/>
          </a:prstGeom>
          <a:ln w="12700">
            <a:solidFill>
              <a:srgbClr val="2A3B57"/>
            </a:solidFill>
            <a:prstDash val="solid"/>
          </a:ln>
        </p:spPr>
      </p:sp>
      <p:sp>
        <p:nvSpPr>
          <p:cNvPr id="4" name="Ring"/>
          <p:cNvSpPr/>
          <p:nvPr/>
        </p:nvSpPr>
        <p:spPr>
          <a:xfrm>
            <a:off x="8229600" y="2514600"/>
            <a:ext cx="1828800" cy="1828800"/>
          </a:xfrm>
          <a:prstGeom prst="ellipse">
            <a:avLst/>
          </a:prstGeom>
          <a:ln w="12700">
            <a:solidFill>
              <a:srgbClr val="2A3B57"/>
            </a:solidFill>
            <a:prstDash val="solid"/>
          </a:ln>
        </p:spPr>
      </p:sp>
      <p:sp>
        <p:nvSpPr>
          <p:cNvPr id="5" name="Line"/>
          <p:cNvSpPr/>
          <p:nvPr/>
        </p:nvSpPr>
        <p:spPr>
          <a:xfrm>
            <a:off x="7040880" y="1965960"/>
            <a:ext cx="2103120" cy="1463040"/>
          </a:xfrm>
          <a:prstGeom prst="line">
            <a:avLst/>
          </a:prstGeom>
          <a:noFill/>
          <a:ln w="12700">
            <a:solidFill>
              <a:srgbClr val="34486A"/>
            </a:solidFill>
            <a:prstDash val="solid"/>
          </a:ln>
        </p:spPr>
      </p:sp>
      <p:sp>
        <p:nvSpPr>
          <p:cNvPr id="6" name="Line"/>
          <p:cNvSpPr/>
          <p:nvPr/>
        </p:nvSpPr>
        <p:spPr>
          <a:xfrm flipV="1">
            <a:off x="9144000" y="777240"/>
            <a:ext cx="822960" cy="2651760"/>
          </a:xfrm>
          <a:prstGeom prst="line">
            <a:avLst/>
          </a:prstGeom>
          <a:noFill/>
          <a:ln w="12700">
            <a:solidFill>
              <a:srgbClr val="34486A"/>
            </a:solidFill>
            <a:prstDash val="solid"/>
          </a:ln>
        </p:spPr>
      </p:sp>
      <p:sp>
        <p:nvSpPr>
          <p:cNvPr id="7" name="Line"/>
          <p:cNvSpPr/>
          <p:nvPr/>
        </p:nvSpPr>
        <p:spPr>
          <a:xfrm flipV="1">
            <a:off x="9144000" y="2880360"/>
            <a:ext cx="2377440" cy="548640"/>
          </a:xfrm>
          <a:prstGeom prst="line">
            <a:avLst/>
          </a:prstGeom>
          <a:noFill/>
          <a:ln w="12700">
            <a:solidFill>
              <a:srgbClr val="34486A"/>
            </a:solidFill>
            <a:prstDash val="solid"/>
          </a:ln>
        </p:spPr>
      </p:sp>
      <p:sp>
        <p:nvSpPr>
          <p:cNvPr id="8" name="Line"/>
          <p:cNvSpPr/>
          <p:nvPr/>
        </p:nvSpPr>
        <p:spPr>
          <a:xfrm>
            <a:off x="9144000" y="3429000"/>
            <a:ext cx="1463040" cy="2011680"/>
          </a:xfrm>
          <a:prstGeom prst="line">
            <a:avLst/>
          </a:prstGeom>
          <a:noFill/>
          <a:ln w="12700">
            <a:solidFill>
              <a:srgbClr val="34486A"/>
            </a:solidFill>
            <a:prstDash val="solid"/>
          </a:ln>
        </p:spPr>
      </p:sp>
      <p:sp>
        <p:nvSpPr>
          <p:cNvPr id="9" name="Line"/>
          <p:cNvSpPr/>
          <p:nvPr/>
        </p:nvSpPr>
        <p:spPr>
          <a:xfrm flipV="1">
            <a:off x="7863840" y="3429000"/>
            <a:ext cx="1280160" cy="2194560"/>
          </a:xfrm>
          <a:prstGeom prst="line">
            <a:avLst/>
          </a:prstGeom>
          <a:noFill/>
          <a:ln w="12700">
            <a:solidFill>
              <a:srgbClr val="34486A"/>
            </a:solidFill>
            <a:prstDash val="solid"/>
          </a:ln>
        </p:spPr>
      </p:sp>
      <p:sp>
        <p:nvSpPr>
          <p:cNvPr id="10" name="Line"/>
          <p:cNvSpPr/>
          <p:nvPr/>
        </p:nvSpPr>
        <p:spPr>
          <a:xfrm flipV="1">
            <a:off x="6492240" y="3429000"/>
            <a:ext cx="2651760" cy="822960"/>
          </a:xfrm>
          <a:prstGeom prst="line">
            <a:avLst/>
          </a:prstGeom>
          <a:noFill/>
          <a:ln w="12700">
            <a:solidFill>
              <a:srgbClr val="34486A"/>
            </a:solidFill>
            <a:prstDash val="solid"/>
          </a:ln>
        </p:spPr>
      </p:sp>
      <p:sp>
        <p:nvSpPr>
          <p:cNvPr id="11" name="Line"/>
          <p:cNvSpPr/>
          <p:nvPr/>
        </p:nvSpPr>
        <p:spPr>
          <a:xfrm flipV="1">
            <a:off x="7040880" y="777240"/>
            <a:ext cx="2926080" cy="1188720"/>
          </a:xfrm>
          <a:prstGeom prst="line">
            <a:avLst/>
          </a:prstGeom>
          <a:noFill/>
          <a:ln w="12700">
            <a:solidFill>
              <a:srgbClr val="34486A"/>
            </a:solidFill>
            <a:prstDash val="solid"/>
          </a:ln>
        </p:spPr>
      </p:sp>
      <p:sp>
        <p:nvSpPr>
          <p:cNvPr id="12" name="Line"/>
          <p:cNvSpPr/>
          <p:nvPr/>
        </p:nvSpPr>
        <p:spPr>
          <a:xfrm flipV="1">
            <a:off x="10607040" y="2880360"/>
            <a:ext cx="914400" cy="2560320"/>
          </a:xfrm>
          <a:prstGeom prst="line">
            <a:avLst/>
          </a:prstGeom>
          <a:noFill/>
          <a:ln w="12700">
            <a:solidFill>
              <a:srgbClr val="34486A"/>
            </a:solidFill>
            <a:prstDash val="solid"/>
          </a:ln>
        </p:spPr>
      </p:sp>
      <p:sp>
        <p:nvSpPr>
          <p:cNvPr id="13" name="Line"/>
          <p:cNvSpPr/>
          <p:nvPr/>
        </p:nvSpPr>
        <p:spPr>
          <a:xfrm>
            <a:off x="6492240" y="4251960"/>
            <a:ext cx="1371600" cy="1371600"/>
          </a:xfrm>
          <a:prstGeom prst="line">
            <a:avLst/>
          </a:prstGeom>
          <a:noFill/>
          <a:ln w="12700">
            <a:solidFill>
              <a:srgbClr val="34486A"/>
            </a:solidFill>
            <a:prstDash val="solid"/>
          </a:ln>
        </p:spPr>
      </p:sp>
      <p:sp>
        <p:nvSpPr>
          <p:cNvPr id="14" name="Base node"/>
          <p:cNvSpPr/>
          <p:nvPr/>
        </p:nvSpPr>
        <p:spPr>
          <a:xfrm>
            <a:off x="6931152" y="1856232"/>
            <a:ext cx="219456" cy="219456"/>
          </a:xfrm>
          <a:prstGeom prst="ellipse">
            <a:avLst/>
          </a:prstGeom>
          <a:solidFill>
            <a:srgbClr val="4E9BD6"/>
          </a:solidFill>
          <a:ln w="12700">
            <a:solidFill>
              <a:srgbClr val="4E9BD6"/>
            </a:solidFill>
            <a:prstDash val="solid"/>
          </a:ln>
        </p:spPr>
      </p:sp>
      <p:sp>
        <p:nvSpPr>
          <p:cNvPr id="15" name="Base node"/>
          <p:cNvSpPr/>
          <p:nvPr/>
        </p:nvSpPr>
        <p:spPr>
          <a:xfrm>
            <a:off x="9857232" y="667512"/>
            <a:ext cx="219456" cy="219456"/>
          </a:xfrm>
          <a:prstGeom prst="ellipse">
            <a:avLst/>
          </a:prstGeom>
          <a:solidFill>
            <a:srgbClr val="4E9BD6"/>
          </a:solidFill>
          <a:ln w="12700">
            <a:solidFill>
              <a:srgbClr val="4E9BD6"/>
            </a:solidFill>
            <a:prstDash val="solid"/>
          </a:ln>
        </p:spPr>
      </p:sp>
      <p:sp>
        <p:nvSpPr>
          <p:cNvPr id="16" name="Base node"/>
          <p:cNvSpPr/>
          <p:nvPr/>
        </p:nvSpPr>
        <p:spPr>
          <a:xfrm>
            <a:off x="11411712" y="2770632"/>
            <a:ext cx="219456" cy="219456"/>
          </a:xfrm>
          <a:prstGeom prst="ellipse">
            <a:avLst/>
          </a:prstGeom>
          <a:solidFill>
            <a:srgbClr val="4E9BD6"/>
          </a:solidFill>
          <a:ln w="12700">
            <a:solidFill>
              <a:srgbClr val="4E9BD6"/>
            </a:solidFill>
            <a:prstDash val="solid"/>
          </a:ln>
        </p:spPr>
      </p:sp>
      <p:sp>
        <p:nvSpPr>
          <p:cNvPr id="17" name="Base node"/>
          <p:cNvSpPr/>
          <p:nvPr/>
        </p:nvSpPr>
        <p:spPr>
          <a:xfrm>
            <a:off x="10497312" y="5330952"/>
            <a:ext cx="219456" cy="219456"/>
          </a:xfrm>
          <a:prstGeom prst="ellipse">
            <a:avLst/>
          </a:prstGeom>
          <a:solidFill>
            <a:srgbClr val="4E9BD6"/>
          </a:solidFill>
          <a:ln w="12700">
            <a:solidFill>
              <a:srgbClr val="4E9BD6"/>
            </a:solidFill>
            <a:prstDash val="solid"/>
          </a:ln>
        </p:spPr>
      </p:sp>
      <p:sp>
        <p:nvSpPr>
          <p:cNvPr id="18" name="Base node"/>
          <p:cNvSpPr/>
          <p:nvPr/>
        </p:nvSpPr>
        <p:spPr>
          <a:xfrm>
            <a:off x="7754112" y="5513832"/>
            <a:ext cx="219456" cy="219456"/>
          </a:xfrm>
          <a:prstGeom prst="ellipse">
            <a:avLst/>
          </a:prstGeom>
          <a:solidFill>
            <a:srgbClr val="4E9BD6"/>
          </a:solidFill>
          <a:ln w="12700">
            <a:solidFill>
              <a:srgbClr val="4E9BD6"/>
            </a:solidFill>
            <a:prstDash val="solid"/>
          </a:ln>
        </p:spPr>
      </p:sp>
      <p:sp>
        <p:nvSpPr>
          <p:cNvPr id="19" name="Base node"/>
          <p:cNvSpPr/>
          <p:nvPr/>
        </p:nvSpPr>
        <p:spPr>
          <a:xfrm>
            <a:off x="6382512" y="4142232"/>
            <a:ext cx="219456" cy="219456"/>
          </a:xfrm>
          <a:prstGeom prst="ellipse">
            <a:avLst/>
          </a:prstGeom>
          <a:solidFill>
            <a:srgbClr val="4E9BD6"/>
          </a:solidFill>
          <a:ln w="12700">
            <a:solidFill>
              <a:srgbClr val="4E9BD6"/>
            </a:solidFill>
            <a:prstDash val="solid"/>
          </a:ln>
        </p:spPr>
      </p:sp>
      <p:sp>
        <p:nvSpPr>
          <p:cNvPr id="20" name="Base node"/>
          <p:cNvSpPr/>
          <p:nvPr/>
        </p:nvSpPr>
        <p:spPr>
          <a:xfrm>
            <a:off x="8961120" y="3246120"/>
            <a:ext cx="365760" cy="365760"/>
          </a:xfrm>
          <a:prstGeom prst="ellipse">
            <a:avLst/>
          </a:prstGeom>
          <a:solidFill>
            <a:srgbClr val="F2A33A"/>
          </a:solidFill>
          <a:ln w="12700">
            <a:solidFill>
              <a:srgbClr val="F2A33A"/>
            </a:solidFill>
            <a:prstDash val="solid"/>
          </a:ln>
        </p:spPr>
      </p:sp>
      <p:sp>
        <p:nvSpPr>
          <p:cNvPr id="21" name="Text 19"/>
          <p:cNvSpPr txBox="1"/>
          <p:nvPr/>
        </p:nvSpPr>
        <p:spPr>
          <a:xfrm>
            <a:off x="548640" y="64008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OBJECT ORIENTED PROGRAMMING · COURSE PROJECT</a:t>
            </a:r>
            <a:endParaRPr lang="en-US" sz="1100" dirty="0"/>
          </a:p>
        </p:txBody>
      </p:sp>
      <p:sp>
        <p:nvSpPr>
          <p:cNvPr id="22" name="Text 20"/>
          <p:cNvSpPr txBox="1"/>
          <p:nvPr/>
        </p:nvSpPr>
        <p:spPr>
          <a:xfrm>
            <a:off x="548640" y="1737360"/>
            <a:ext cx="6035040" cy="1920240"/>
          </a:xfrm>
          <a:prstGeom prst="rect">
            <a:avLst/>
          </a:prstGeom>
          <a:noFill/>
          <a:ln/>
        </p:spPr>
        <p:txBody>
          <a:bodyPr wrap="square" lIns="0" tIns="0" rIns="0" bIns="0" rtlCol="0" anchor="t"/>
          <a:lstStyle/>
          <a:p>
            <a:pPr indent="0" marL="0">
              <a:buNone/>
            </a:pPr>
            <a:r>
              <a:rPr lang="en-US" sz="4000" b="1" dirty="0">
                <a:solidFill>
                  <a:schemeClr val="bg1"/>
                </a:solidFill>
              </a:rPr>
              <a:t>Defence Logistics and Supply Chain Management System</a:t>
            </a:r>
            <a:endParaRPr lang="en-US" sz="4000" dirty="0"/>
          </a:p>
        </p:txBody>
      </p:sp>
      <p:sp>
        <p:nvSpPr>
          <p:cNvPr id="23" name="Text 21"/>
          <p:cNvSpPr txBox="1"/>
          <p:nvPr/>
        </p:nvSpPr>
        <p:spPr>
          <a:xfrm>
            <a:off x="548640" y="3794760"/>
            <a:ext cx="6035040" cy="365760"/>
          </a:xfrm>
          <a:prstGeom prst="rect">
            <a:avLst/>
          </a:prstGeom>
          <a:noFill/>
          <a:ln/>
        </p:spPr>
        <p:txBody>
          <a:bodyPr wrap="square" lIns="0" tIns="0" rIns="0" bIns="0" rtlCol="0" anchor="ctr"/>
          <a:lstStyle/>
          <a:p>
            <a:pPr indent="0" marL="0">
              <a:buNone/>
            </a:pPr>
            <a:r>
              <a:rPr lang="en-US" sz="1800" dirty="0">
                <a:solidFill>
                  <a:srgbClr val="C9D3E3"/>
                </a:solidFill>
              </a:rPr>
              <a:t>built with Object-Oriented Design in Java</a:t>
            </a:r>
            <a:endParaRPr lang="en-US" sz="1800" dirty="0"/>
          </a:p>
        </p:txBody>
      </p:sp>
      <p:sp>
        <p:nvSpPr>
          <p:cNvPr id="24" name="Text 22"/>
          <p:cNvSpPr txBox="1"/>
          <p:nvPr/>
        </p:nvSpPr>
        <p:spPr>
          <a:xfrm>
            <a:off x="548640" y="5623560"/>
            <a:ext cx="6583680" cy="274320"/>
          </a:xfrm>
          <a:prstGeom prst="rect">
            <a:avLst/>
          </a:prstGeom>
          <a:noFill/>
          <a:ln/>
        </p:spPr>
        <p:txBody>
          <a:bodyPr wrap="square" lIns="0" tIns="0" rIns="0" bIns="0" rtlCol="0" anchor="ctr"/>
          <a:lstStyle/>
          <a:p>
            <a:pPr indent="0" marL="0">
              <a:buNone/>
            </a:pPr>
            <a:r>
              <a:rPr lang="en-US" sz="1200" dirty="0">
                <a:solidFill>
                  <a:schemeClr val="bg1"/>
                </a:solidFill>
              </a:rPr>
              <a:t>Vedant Pathak (R045) · Dhairya Shah (R057) · Kanishak Thakran (R046)</a:t>
            </a:r>
            <a:endParaRPr lang="en-US" sz="1200" dirty="0"/>
          </a:p>
        </p:txBody>
      </p:sp>
      <p:sp>
        <p:nvSpPr>
          <p:cNvPr id="25" name="Text 23"/>
          <p:cNvSpPr txBox="1"/>
          <p:nvPr/>
        </p:nvSpPr>
        <p:spPr>
          <a:xfrm>
            <a:off x="548640" y="5943600"/>
            <a:ext cx="6583680" cy="274320"/>
          </a:xfrm>
          <a:prstGeom prst="rect">
            <a:avLst/>
          </a:prstGeom>
          <a:noFill/>
          <a:ln/>
        </p:spPr>
        <p:txBody>
          <a:bodyPr wrap="square" lIns="0" tIns="0" rIns="0" bIns="0" rtlCol="0" anchor="ctr"/>
          <a:lstStyle/>
          <a:p>
            <a:pPr indent="0" marL="0">
              <a:buNone/>
            </a:pPr>
            <a:r>
              <a:rPr lang="en-US" sz="1200" dirty="0">
                <a:solidFill>
                  <a:srgbClr val="9FB0C8"/>
                </a:solidFill>
              </a:rPr>
              <a:t>Faculty: Dr. Sakshi Ranjan · SVKM’s NMIMS MPSTME, Mumbai</a:t>
            </a:r>
            <a:endParaRPr lang="en-US" sz="1200" dirty="0"/>
          </a:p>
        </p:txBody>
      </p:sp>
      <p:sp>
        <p:nvSpPr>
          <p:cNvPr id="26" name="Repo link footer"/>
          <p:cNvSpPr txBox="1"/>
          <p:nvPr/>
        </p:nvSpPr>
        <p:spPr>
          <a:xfrm>
            <a:off x="548640" y="6355080"/>
            <a:ext cx="8686800" cy="274320"/>
          </a:xfrm>
          <a:prstGeom prst="rect">
            <a:avLst/>
          </a:prstGeom>
          <a:noFill/>
          <a:ln/>
        </p:spPr>
        <p:txBody>
          <a:bodyPr wrap="square" lIns="0" tIns="0" rIns="0" bIns="0" rtlCol="0" anchor="ctr"/>
          <a:lstStyle/>
          <a:p>
            <a:pPr indent="0" marL="0">
              <a:buNone/>
            </a:pPr>
            <a:r>
              <a:rPr lang="en-US" sz="1200" dirty="0">
                <a:solidFill>
                  <a:srgbClr val="9FB0C8"/>
                </a:solidFill>
              </a:rPr>
              <a:t>GitHub: </a:t>
            </a:r>
            <a:pPr indent="0" marL="0">
              <a:buNone/>
            </a:pPr>
            <a:r>
              <a:rPr lang="en-US" sz="1200" u="sng" dirty="0">
                <a:solidFill>
                  <a:srgbClr val="F2A33A"/>
                </a:solidFill>
                <a:hlinkClick r:id="rId1" invalidUrl="" action="" tgtFrame="" tooltip="Source code and UML" history="1" highlightClick="0" endSnd="0">
                  <a:extLst>
                    <a:ext uri="{A12FA001-AC4F-418D-AE19-62706E023703}">
                      <ahyp:hlinkClr xmlns:ahyp="http://schemas.microsoft.com/office/drawing/2018/hyperlinkcolor" val="tx"/>
                    </a:ext>
                  </a:extLst>
                </a:hlinkClick>
              </a:rPr>
              <a:t>https://github.com/withvedantpathak/DLSCMS_using_ObjectOrientedProgramming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292608"/>
            <a:ext cx="100584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THE PROBLEM</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The right stock, in the right place, in time</a:t>
            </a:r>
            <a:endParaRPr lang="en-US" sz="3200" dirty="0"/>
          </a:p>
        </p:txBody>
      </p:sp>
      <p:sp>
        <p:nvSpPr>
          <p:cNvPr id="4" name="Text 2"/>
          <p:cNvSpPr txBox="1"/>
          <p:nvPr/>
        </p:nvSpPr>
        <p:spPr>
          <a:xfrm>
            <a:off x="548640" y="1600200"/>
            <a:ext cx="6309360" cy="228600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A defence network is a set of bases. Each base holds stock of medical kits, food, fuel, spares and shelter, and a fleet of trucks, vans and helicopters moves it around.</a:t>
            </a:r>
            <a:endParaRPr lang="en-US" sz="1600" dirty="0"/>
          </a:p>
          <a:p>
            <a:pPr indent="0" marL="0">
              <a:spcAft>
                <a:spcPts val="400"/>
              </a:spcAft>
              <a:buNone/>
            </a:pPr>
            <a:r>
              <a:rPr lang="en-US" sz="800" dirty="0">
                <a:solidFill>
                  <a:schemeClr val="tx1"/>
                </a:solidFill>
              </a:rPr>
              <a:t> </a:t>
            </a:r>
            <a:endParaRPr lang="en-US" sz="1600" dirty="0"/>
          </a:p>
          <a:p>
            <a:pPr indent="0" marL="0">
              <a:spcAft>
                <a:spcPts val="400"/>
              </a:spcAft>
              <a:buNone/>
            </a:pPr>
            <a:r>
              <a:rPr lang="en-US" sz="1600" dirty="0">
                <a:solidFill>
                  <a:schemeClr val="tx1"/>
                </a:solidFill>
              </a:rPr>
              <a:t>When a base runs short, someone has to decide </a:t>
            </a:r>
            <a:pPr indent="0" marL="0">
              <a:spcAft>
                <a:spcPts val="400"/>
              </a:spcAft>
              <a:buNone/>
            </a:pPr>
            <a:r>
              <a:rPr lang="en-US" sz="1600" b="1" dirty="0">
                <a:solidFill>
                  <a:schemeClr val="tx1"/>
                </a:solidFill>
              </a:rPr>
              <a:t>who gives the stock, what carries it, and in what order</a:t>
            </a:r>
            <a:pPr indent="0" marL="0">
              <a:spcAft>
                <a:spcPts val="400"/>
              </a:spcAft>
              <a:buNone/>
            </a:pPr>
            <a:r>
              <a:rPr lang="en-US" sz="1600" dirty="0">
                <a:solidFill>
                  <a:schemeClr val="tx1"/>
                </a:solidFill>
              </a:rPr>
              <a:t>, while keeping every other base above its safe level. Done by hand, that is slow, and one wrong call leaves a base empty.</a:t>
            </a:r>
            <a:endParaRPr lang="en-US" sz="1600" dirty="0"/>
          </a:p>
        </p:txBody>
      </p:sp>
      <p:sp>
        <p:nvSpPr>
          <p:cNvPr id="5" name="Card"/>
          <p:cNvSpPr/>
          <p:nvPr/>
        </p:nvSpPr>
        <p:spPr>
          <a:xfrm>
            <a:off x="7406640" y="1554480"/>
            <a:ext cx="4206240" cy="1325880"/>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6" name="Text 4"/>
          <p:cNvSpPr txBox="1"/>
          <p:nvPr/>
        </p:nvSpPr>
        <p:spPr>
          <a:xfrm>
            <a:off x="7635240" y="1664208"/>
            <a:ext cx="3749040" cy="640080"/>
          </a:xfrm>
          <a:prstGeom prst="rect">
            <a:avLst/>
          </a:prstGeom>
          <a:noFill/>
          <a:ln/>
        </p:spPr>
        <p:txBody>
          <a:bodyPr wrap="square" lIns="0" tIns="0" rIns="0" bIns="0" rtlCol="0" anchor="ctr"/>
          <a:lstStyle/>
          <a:p>
            <a:pPr indent="0" marL="0">
              <a:buNone/>
            </a:pPr>
            <a:r>
              <a:rPr lang="en-US" sz="3400" b="1" dirty="0">
                <a:solidFill>
                  <a:schemeClr val="tx1"/>
                </a:solidFill>
              </a:rPr>
              <a:t>1,000</a:t>
            </a:r>
            <a:endParaRPr lang="en-US" sz="3400" dirty="0"/>
          </a:p>
        </p:txBody>
      </p:sp>
      <p:sp>
        <p:nvSpPr>
          <p:cNvPr id="7" name="Text 5"/>
          <p:cNvSpPr txBox="1"/>
          <p:nvPr/>
        </p:nvSpPr>
        <p:spPr>
          <a:xfrm>
            <a:off x="7635240" y="2304288"/>
            <a:ext cx="3749040" cy="484632"/>
          </a:xfrm>
          <a:prstGeom prst="rect">
            <a:avLst/>
          </a:prstGeom>
          <a:noFill/>
          <a:ln/>
        </p:spPr>
        <p:txBody>
          <a:bodyPr wrap="square" lIns="0" tIns="0" rIns="0" bIns="0" rtlCol="0" anchor="t"/>
          <a:lstStyle/>
          <a:p>
            <a:pPr indent="0" marL="0">
              <a:buNone/>
            </a:pPr>
            <a:r>
              <a:rPr lang="en-US" sz="1400" dirty="0">
                <a:solidFill>
                  <a:schemeClr val="tx1"/>
                </a:solidFill>
              </a:rPr>
              <a:t>requests in our largest generated scenario, over 60 days</a:t>
            </a:r>
            <a:endParaRPr lang="en-US" sz="1400" dirty="0"/>
          </a:p>
        </p:txBody>
      </p:sp>
      <p:sp>
        <p:nvSpPr>
          <p:cNvPr id="8" name="Card"/>
          <p:cNvSpPr/>
          <p:nvPr/>
        </p:nvSpPr>
        <p:spPr>
          <a:xfrm>
            <a:off x="7406640" y="3017520"/>
            <a:ext cx="4206240" cy="1325880"/>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9" name="Text 7"/>
          <p:cNvSpPr txBox="1"/>
          <p:nvPr/>
        </p:nvSpPr>
        <p:spPr>
          <a:xfrm>
            <a:off x="7635240" y="3127248"/>
            <a:ext cx="3749040" cy="640080"/>
          </a:xfrm>
          <a:prstGeom prst="rect">
            <a:avLst/>
          </a:prstGeom>
          <a:noFill/>
          <a:ln/>
        </p:spPr>
        <p:txBody>
          <a:bodyPr wrap="square" lIns="0" tIns="0" rIns="0" bIns="0" rtlCol="0" anchor="ctr"/>
          <a:lstStyle/>
          <a:p>
            <a:pPr indent="0" marL="0">
              <a:buNone/>
            </a:pPr>
            <a:r>
              <a:rPr lang="en-US" sz="3400" b="1" dirty="0">
                <a:solidFill>
                  <a:schemeClr val="tx1"/>
                </a:solidFill>
              </a:rPr>
              <a:t>60 vehicles</a:t>
            </a:r>
            <a:endParaRPr lang="en-US" sz="3400" dirty="0"/>
          </a:p>
        </p:txBody>
      </p:sp>
      <p:sp>
        <p:nvSpPr>
          <p:cNvPr id="10" name="Text 8"/>
          <p:cNvSpPr txBox="1"/>
          <p:nvPr/>
        </p:nvSpPr>
        <p:spPr>
          <a:xfrm>
            <a:off x="7635240" y="3767328"/>
            <a:ext cx="3749040" cy="484632"/>
          </a:xfrm>
          <a:prstGeom prst="rect">
            <a:avLst/>
          </a:prstGeom>
          <a:noFill/>
          <a:ln/>
        </p:spPr>
        <p:txBody>
          <a:bodyPr wrap="square" lIns="0" tIns="0" rIns="0" bIns="0" rtlCol="0" anchor="t"/>
          <a:lstStyle/>
          <a:p>
            <a:pPr indent="0" marL="0">
              <a:buNone/>
            </a:pPr>
            <a:r>
              <a:rPr lang="en-US" sz="1400" dirty="0">
                <a:solidFill>
                  <a:schemeClr val="tx1"/>
                </a:solidFill>
              </a:rPr>
              <a:t>across 12 bases, with 35 stock shortages to start with</a:t>
            </a:r>
            <a:endParaRPr lang="en-US" sz="1400" dirty="0"/>
          </a:p>
        </p:txBody>
      </p:sp>
      <p:sp>
        <p:nvSpPr>
          <p:cNvPr id="11" name="Text 9"/>
          <p:cNvSpPr txBox="1"/>
          <p:nvPr/>
        </p:nvSpPr>
        <p:spPr>
          <a:xfrm>
            <a:off x="548640" y="4343400"/>
            <a:ext cx="5943600" cy="411480"/>
          </a:xfrm>
          <a:prstGeom prst="rect">
            <a:avLst/>
          </a:prstGeom>
          <a:noFill/>
          <a:ln/>
        </p:spPr>
        <p:txBody>
          <a:bodyPr wrap="square" lIns="0" tIns="0" rIns="0" bIns="0" rtlCol="0" anchor="ctr"/>
          <a:lstStyle/>
          <a:p>
            <a:pPr indent="0" marL="0">
              <a:buNone/>
            </a:pPr>
            <a:r>
              <a:rPr lang="en-US" sz="2400" b="1" dirty="0">
                <a:solidFill>
                  <a:schemeClr val="accent1"/>
                </a:solidFill>
              </a:rPr>
              <a:t>Our question:</a:t>
            </a:r>
            <a:endParaRPr lang="en-US" sz="2400" dirty="0"/>
          </a:p>
        </p:txBody>
      </p:sp>
      <p:sp>
        <p:nvSpPr>
          <p:cNvPr id="12" name="Text 10"/>
          <p:cNvSpPr txBox="1"/>
          <p:nvPr/>
        </p:nvSpPr>
        <p:spPr>
          <a:xfrm>
            <a:off x="548640" y="4846320"/>
            <a:ext cx="6400800" cy="822960"/>
          </a:xfrm>
          <a:prstGeom prst="rect">
            <a:avLst/>
          </a:prstGeom>
          <a:noFill/>
          <a:ln/>
        </p:spPr>
        <p:txBody>
          <a:bodyPr wrap="square" lIns="0" tIns="0" rIns="0" bIns="0" rtlCol="0" anchor="t"/>
          <a:lstStyle/>
          <a:p>
            <a:pPr indent="0" marL="0">
              <a:buNone/>
            </a:pPr>
            <a:r>
              <a:rPr lang="en-US" sz="1800" b="1" dirty="0">
                <a:solidFill>
                  <a:schemeClr val="accent1"/>
                </a:solidFill>
              </a:rPr>
              <a:t>Can one system choose the source and the vehicle for every request, and can we show which rule works best?</a:t>
            </a:r>
            <a:endParaRPr lang="en-US" sz="1800" dirty="0"/>
          </a:p>
        </p:txBody>
      </p:sp>
      <p:sp>
        <p:nvSpPr>
          <p:cNvPr id="13" name="Source"/>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chemeClr val="accent5"/>
                </a:solidFill>
              </a:rPr>
              <a:t>Synthetic data only, generated locally · results/dataset_summary.csv (large scale)</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292608"/>
            <a:ext cx="100584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THE SOLUTION</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One request in, six steps handled for you</a:t>
            </a:r>
            <a:endParaRPr lang="en-US" sz="3200" dirty="0"/>
          </a:p>
        </p:txBody>
      </p:sp>
      <p:sp>
        <p:nvSpPr>
          <p:cNvPr id="4" name="Card"/>
          <p:cNvSpPr/>
          <p:nvPr/>
        </p:nvSpPr>
        <p:spPr>
          <a:xfrm>
            <a:off x="548640" y="1554480"/>
            <a:ext cx="3931920" cy="3246120"/>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5" name="Line"/>
          <p:cNvSpPr/>
          <p:nvPr/>
        </p:nvSpPr>
        <p:spPr>
          <a:xfrm flipV="1">
            <a:off x="1554480" y="1874520"/>
            <a:ext cx="1554480" cy="137160"/>
          </a:xfrm>
          <a:prstGeom prst="line">
            <a:avLst/>
          </a:prstGeom>
          <a:noFill/>
          <a:ln w="9525">
            <a:solidFill>
              <a:srgbClr val="B9B4A8"/>
            </a:solidFill>
            <a:prstDash val="solid"/>
          </a:ln>
        </p:spPr>
      </p:sp>
      <p:sp>
        <p:nvSpPr>
          <p:cNvPr id="6" name="Line"/>
          <p:cNvSpPr/>
          <p:nvPr/>
        </p:nvSpPr>
        <p:spPr>
          <a:xfrm>
            <a:off x="1554480" y="2011680"/>
            <a:ext cx="2286000" cy="685800"/>
          </a:xfrm>
          <a:prstGeom prst="line">
            <a:avLst/>
          </a:prstGeom>
          <a:noFill/>
          <a:ln w="9525">
            <a:solidFill>
              <a:srgbClr val="B9B4A8"/>
            </a:solidFill>
            <a:prstDash val="solid"/>
          </a:ln>
        </p:spPr>
      </p:sp>
      <p:sp>
        <p:nvSpPr>
          <p:cNvPr id="7" name="Line"/>
          <p:cNvSpPr/>
          <p:nvPr/>
        </p:nvSpPr>
        <p:spPr>
          <a:xfrm>
            <a:off x="1554480" y="2011680"/>
            <a:ext cx="1828800" cy="1691640"/>
          </a:xfrm>
          <a:prstGeom prst="line">
            <a:avLst/>
          </a:prstGeom>
          <a:noFill/>
          <a:ln w="9525">
            <a:solidFill>
              <a:srgbClr val="B9B4A8"/>
            </a:solidFill>
            <a:prstDash val="solid"/>
          </a:ln>
        </p:spPr>
      </p:sp>
      <p:sp>
        <p:nvSpPr>
          <p:cNvPr id="8" name="Line"/>
          <p:cNvSpPr/>
          <p:nvPr/>
        </p:nvSpPr>
        <p:spPr>
          <a:xfrm>
            <a:off x="1554480" y="2011680"/>
            <a:ext cx="365760" cy="1828800"/>
          </a:xfrm>
          <a:prstGeom prst="line">
            <a:avLst/>
          </a:prstGeom>
          <a:noFill/>
          <a:ln w="9525">
            <a:solidFill>
              <a:srgbClr val="B9B4A8"/>
            </a:solidFill>
            <a:prstDash val="solid"/>
          </a:ln>
        </p:spPr>
      </p:sp>
      <p:sp>
        <p:nvSpPr>
          <p:cNvPr id="9" name="Line"/>
          <p:cNvSpPr/>
          <p:nvPr/>
        </p:nvSpPr>
        <p:spPr>
          <a:xfrm flipV="1">
            <a:off x="1143000" y="2011680"/>
            <a:ext cx="411480" cy="960120"/>
          </a:xfrm>
          <a:prstGeom prst="line">
            <a:avLst/>
          </a:prstGeom>
          <a:noFill/>
          <a:ln w="9525">
            <a:solidFill>
              <a:srgbClr val="B9B4A8"/>
            </a:solidFill>
            <a:prstDash val="solid"/>
          </a:ln>
        </p:spPr>
      </p:sp>
      <p:sp>
        <p:nvSpPr>
          <p:cNvPr id="10" name="Line"/>
          <p:cNvSpPr/>
          <p:nvPr/>
        </p:nvSpPr>
        <p:spPr>
          <a:xfrm>
            <a:off x="3108960" y="1874520"/>
            <a:ext cx="731520" cy="822960"/>
          </a:xfrm>
          <a:prstGeom prst="line">
            <a:avLst/>
          </a:prstGeom>
          <a:noFill/>
          <a:ln w="9525">
            <a:solidFill>
              <a:srgbClr val="B9B4A8"/>
            </a:solidFill>
            <a:prstDash val="solid"/>
          </a:ln>
        </p:spPr>
      </p:sp>
      <p:sp>
        <p:nvSpPr>
          <p:cNvPr id="11" name="Line"/>
          <p:cNvSpPr/>
          <p:nvPr/>
        </p:nvSpPr>
        <p:spPr>
          <a:xfrm>
            <a:off x="3108960" y="1874520"/>
            <a:ext cx="274320" cy="1828800"/>
          </a:xfrm>
          <a:prstGeom prst="line">
            <a:avLst/>
          </a:prstGeom>
          <a:noFill/>
          <a:ln w="9525">
            <a:solidFill>
              <a:srgbClr val="B9B4A8"/>
            </a:solidFill>
            <a:prstDash val="solid"/>
          </a:ln>
        </p:spPr>
      </p:sp>
      <p:sp>
        <p:nvSpPr>
          <p:cNvPr id="12" name="Line"/>
          <p:cNvSpPr/>
          <p:nvPr/>
        </p:nvSpPr>
        <p:spPr>
          <a:xfrm flipV="1">
            <a:off x="1920240" y="1874520"/>
            <a:ext cx="1188720" cy="1965960"/>
          </a:xfrm>
          <a:prstGeom prst="line">
            <a:avLst/>
          </a:prstGeom>
          <a:noFill/>
          <a:ln w="9525">
            <a:solidFill>
              <a:srgbClr val="B9B4A8"/>
            </a:solidFill>
            <a:prstDash val="solid"/>
          </a:ln>
        </p:spPr>
      </p:sp>
      <p:sp>
        <p:nvSpPr>
          <p:cNvPr id="13" name="Line"/>
          <p:cNvSpPr/>
          <p:nvPr/>
        </p:nvSpPr>
        <p:spPr>
          <a:xfrm flipV="1">
            <a:off x="1143000" y="1874520"/>
            <a:ext cx="1965960" cy="1097280"/>
          </a:xfrm>
          <a:prstGeom prst="line">
            <a:avLst/>
          </a:prstGeom>
          <a:noFill/>
          <a:ln w="9525">
            <a:solidFill>
              <a:srgbClr val="B9B4A8"/>
            </a:solidFill>
            <a:prstDash val="solid"/>
          </a:ln>
        </p:spPr>
      </p:sp>
      <p:sp>
        <p:nvSpPr>
          <p:cNvPr id="14" name="Line"/>
          <p:cNvSpPr/>
          <p:nvPr/>
        </p:nvSpPr>
        <p:spPr>
          <a:xfrm flipV="1">
            <a:off x="3383280" y="2697480"/>
            <a:ext cx="457200" cy="1005840"/>
          </a:xfrm>
          <a:prstGeom prst="line">
            <a:avLst/>
          </a:prstGeom>
          <a:noFill/>
          <a:ln w="9525">
            <a:solidFill>
              <a:srgbClr val="B9B4A8"/>
            </a:solidFill>
            <a:prstDash val="solid"/>
          </a:ln>
        </p:spPr>
      </p:sp>
      <p:sp>
        <p:nvSpPr>
          <p:cNvPr id="15" name="Line"/>
          <p:cNvSpPr/>
          <p:nvPr/>
        </p:nvSpPr>
        <p:spPr>
          <a:xfrm flipV="1">
            <a:off x="1920240" y="2697480"/>
            <a:ext cx="1920240" cy="1143000"/>
          </a:xfrm>
          <a:prstGeom prst="line">
            <a:avLst/>
          </a:prstGeom>
          <a:noFill/>
          <a:ln w="9525">
            <a:solidFill>
              <a:srgbClr val="B9B4A8"/>
            </a:solidFill>
            <a:prstDash val="solid"/>
          </a:ln>
        </p:spPr>
      </p:sp>
      <p:sp>
        <p:nvSpPr>
          <p:cNvPr id="16" name="Line"/>
          <p:cNvSpPr/>
          <p:nvPr/>
        </p:nvSpPr>
        <p:spPr>
          <a:xfrm flipV="1">
            <a:off x="1143000" y="2697480"/>
            <a:ext cx="2697480" cy="274320"/>
          </a:xfrm>
          <a:prstGeom prst="line">
            <a:avLst/>
          </a:prstGeom>
          <a:noFill/>
          <a:ln w="9525">
            <a:solidFill>
              <a:srgbClr val="B9B4A8"/>
            </a:solidFill>
            <a:prstDash val="solid"/>
          </a:ln>
        </p:spPr>
      </p:sp>
      <p:sp>
        <p:nvSpPr>
          <p:cNvPr id="17" name="Line"/>
          <p:cNvSpPr/>
          <p:nvPr/>
        </p:nvSpPr>
        <p:spPr>
          <a:xfrm flipV="1">
            <a:off x="1920240" y="3703320"/>
            <a:ext cx="1463040" cy="137160"/>
          </a:xfrm>
          <a:prstGeom prst="line">
            <a:avLst/>
          </a:prstGeom>
          <a:noFill/>
          <a:ln w="9525">
            <a:solidFill>
              <a:srgbClr val="B9B4A8"/>
            </a:solidFill>
            <a:prstDash val="solid"/>
          </a:ln>
        </p:spPr>
      </p:sp>
      <p:sp>
        <p:nvSpPr>
          <p:cNvPr id="18" name="Line"/>
          <p:cNvSpPr/>
          <p:nvPr/>
        </p:nvSpPr>
        <p:spPr>
          <a:xfrm>
            <a:off x="1143000" y="2971800"/>
            <a:ext cx="2240280" cy="731520"/>
          </a:xfrm>
          <a:prstGeom prst="line">
            <a:avLst/>
          </a:prstGeom>
          <a:noFill/>
          <a:ln w="9525">
            <a:solidFill>
              <a:srgbClr val="B9B4A8"/>
            </a:solidFill>
            <a:prstDash val="solid"/>
          </a:ln>
        </p:spPr>
      </p:sp>
      <p:sp>
        <p:nvSpPr>
          <p:cNvPr id="19" name="Line"/>
          <p:cNvSpPr/>
          <p:nvPr/>
        </p:nvSpPr>
        <p:spPr>
          <a:xfrm>
            <a:off x="1143000" y="2971800"/>
            <a:ext cx="777240" cy="868680"/>
          </a:xfrm>
          <a:prstGeom prst="line">
            <a:avLst/>
          </a:prstGeom>
          <a:noFill/>
          <a:ln w="9525">
            <a:solidFill>
              <a:srgbClr val="B9B4A8"/>
            </a:solidFill>
            <a:prstDash val="solid"/>
          </a:ln>
        </p:spPr>
      </p:sp>
      <p:sp>
        <p:nvSpPr>
          <p:cNvPr id="20" name="Node"/>
          <p:cNvSpPr/>
          <p:nvPr/>
        </p:nvSpPr>
        <p:spPr>
          <a:xfrm>
            <a:off x="1472184" y="1929384"/>
            <a:ext cx="164592" cy="164592"/>
          </a:xfrm>
          <a:prstGeom prst="ellipse">
            <a:avLst/>
          </a:prstGeom>
          <a:solidFill>
            <a:schemeClr val="accent5"/>
          </a:solidFill>
          <a:ln w="12700">
            <a:solidFill>
              <a:schemeClr val="accent5"/>
            </a:solidFill>
            <a:prstDash val="solid"/>
          </a:ln>
        </p:spPr>
      </p:sp>
      <p:sp>
        <p:nvSpPr>
          <p:cNvPr id="21" name="Node"/>
          <p:cNvSpPr/>
          <p:nvPr/>
        </p:nvSpPr>
        <p:spPr>
          <a:xfrm>
            <a:off x="3026664" y="1792224"/>
            <a:ext cx="164592" cy="164592"/>
          </a:xfrm>
          <a:prstGeom prst="ellipse">
            <a:avLst/>
          </a:prstGeom>
          <a:solidFill>
            <a:schemeClr val="accent5"/>
          </a:solidFill>
          <a:ln w="12700">
            <a:solidFill>
              <a:schemeClr val="accent5"/>
            </a:solidFill>
            <a:prstDash val="solid"/>
          </a:ln>
        </p:spPr>
      </p:sp>
      <p:sp>
        <p:nvSpPr>
          <p:cNvPr id="22" name="Node"/>
          <p:cNvSpPr/>
          <p:nvPr/>
        </p:nvSpPr>
        <p:spPr>
          <a:xfrm>
            <a:off x="3758184" y="2615184"/>
            <a:ext cx="164592" cy="164592"/>
          </a:xfrm>
          <a:prstGeom prst="ellipse">
            <a:avLst/>
          </a:prstGeom>
          <a:solidFill>
            <a:schemeClr val="accent5"/>
          </a:solidFill>
          <a:ln w="12700">
            <a:solidFill>
              <a:schemeClr val="accent5"/>
            </a:solidFill>
            <a:prstDash val="solid"/>
          </a:ln>
        </p:spPr>
      </p:sp>
      <p:sp>
        <p:nvSpPr>
          <p:cNvPr id="23" name="Node"/>
          <p:cNvSpPr/>
          <p:nvPr/>
        </p:nvSpPr>
        <p:spPr>
          <a:xfrm>
            <a:off x="3300984" y="3621024"/>
            <a:ext cx="164592" cy="164592"/>
          </a:xfrm>
          <a:prstGeom prst="ellipse">
            <a:avLst/>
          </a:prstGeom>
          <a:solidFill>
            <a:schemeClr val="accent5"/>
          </a:solidFill>
          <a:ln w="12700">
            <a:solidFill>
              <a:schemeClr val="accent5"/>
            </a:solidFill>
            <a:prstDash val="solid"/>
          </a:ln>
        </p:spPr>
      </p:sp>
      <p:sp>
        <p:nvSpPr>
          <p:cNvPr id="24" name="Node"/>
          <p:cNvSpPr/>
          <p:nvPr/>
        </p:nvSpPr>
        <p:spPr>
          <a:xfrm>
            <a:off x="1837944" y="3758184"/>
            <a:ext cx="164592" cy="164592"/>
          </a:xfrm>
          <a:prstGeom prst="ellipse">
            <a:avLst/>
          </a:prstGeom>
          <a:solidFill>
            <a:schemeClr val="accent5"/>
          </a:solidFill>
          <a:ln w="12700">
            <a:solidFill>
              <a:schemeClr val="accent5"/>
            </a:solidFill>
            <a:prstDash val="solid"/>
          </a:ln>
        </p:spPr>
      </p:sp>
      <p:sp>
        <p:nvSpPr>
          <p:cNvPr id="25" name="Node"/>
          <p:cNvSpPr/>
          <p:nvPr/>
        </p:nvSpPr>
        <p:spPr>
          <a:xfrm>
            <a:off x="1060704" y="2889504"/>
            <a:ext cx="164592" cy="164592"/>
          </a:xfrm>
          <a:prstGeom prst="ellipse">
            <a:avLst/>
          </a:prstGeom>
          <a:solidFill>
            <a:schemeClr val="accent5"/>
          </a:solidFill>
          <a:ln w="12700">
            <a:solidFill>
              <a:schemeClr val="accent5"/>
            </a:solidFill>
            <a:prstDash val="solid"/>
          </a:ln>
        </p:spPr>
      </p:sp>
      <p:sp>
        <p:nvSpPr>
          <p:cNvPr id="26" name="Text 24"/>
          <p:cNvSpPr txBox="1"/>
          <p:nvPr/>
        </p:nvSpPr>
        <p:spPr>
          <a:xfrm>
            <a:off x="777240" y="4005072"/>
            <a:ext cx="3474720" cy="320040"/>
          </a:xfrm>
          <a:prstGeom prst="rect">
            <a:avLst/>
          </a:prstGeom>
          <a:noFill/>
          <a:ln/>
        </p:spPr>
        <p:txBody>
          <a:bodyPr wrap="square" lIns="0" tIns="0" rIns="0" bIns="0" rtlCol="0" anchor="ctr"/>
          <a:lstStyle/>
          <a:p>
            <a:pPr indent="0" marL="0">
              <a:buNone/>
            </a:pPr>
            <a:r>
              <a:rPr lang="en-US" sz="1800" b="1" dirty="0">
                <a:solidFill>
                  <a:schemeClr val="tx1"/>
                </a:solidFill>
              </a:rPr>
              <a:t>The obvious way</a:t>
            </a:r>
            <a:endParaRPr lang="en-US" sz="1800" dirty="0"/>
          </a:p>
        </p:txBody>
      </p:sp>
      <p:sp>
        <p:nvSpPr>
          <p:cNvPr id="27" name="Text 25"/>
          <p:cNvSpPr txBox="1"/>
          <p:nvPr/>
        </p:nvSpPr>
        <p:spPr>
          <a:xfrm>
            <a:off x="777240" y="4343400"/>
            <a:ext cx="3474720" cy="457200"/>
          </a:xfrm>
          <a:prstGeom prst="rect">
            <a:avLst/>
          </a:prstGeom>
          <a:noFill/>
          <a:ln/>
        </p:spPr>
        <p:txBody>
          <a:bodyPr wrap="square" lIns="0" tIns="0" rIns="0" bIns="0" rtlCol="0" anchor="t"/>
          <a:lstStyle/>
          <a:p>
            <a:pPr indent="0" marL="0">
              <a:buNone/>
            </a:pPr>
            <a:r>
              <a:rPr lang="en-US" sz="1200" dirty="0">
                <a:solidFill>
                  <a:schemeClr val="tx1"/>
                </a:solidFill>
              </a:rPr>
              <a:t>A person phones around, checks every stock sheet and every vehicle, and decides by gut feeling.</a:t>
            </a:r>
            <a:endParaRPr lang="en-US" sz="1200" dirty="0"/>
          </a:p>
        </p:txBody>
      </p:sp>
      <p:sp>
        <p:nvSpPr>
          <p:cNvPr id="28" name="Card"/>
          <p:cNvSpPr/>
          <p:nvPr/>
        </p:nvSpPr>
        <p:spPr>
          <a:xfrm>
            <a:off x="4663440" y="1554480"/>
            <a:ext cx="6976872" cy="3246120"/>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29" name="Outline"/>
          <p:cNvSpPr/>
          <p:nvPr/>
        </p:nvSpPr>
        <p:spPr>
          <a:xfrm>
            <a:off x="4663440" y="1554480"/>
            <a:ext cx="6976872" cy="3246120"/>
          </a:xfrm>
          <a:prstGeom prst="rect">
            <a:avLst/>
          </a:prstGeom>
          <a:ln w="19050">
            <a:solidFill>
              <a:srgbClr val="C4590A"/>
            </a:solidFill>
            <a:prstDash val="solid"/>
          </a:ln>
        </p:spPr>
      </p:sp>
      <p:sp>
        <p:nvSpPr>
          <p:cNvPr id="30" name="Text 28"/>
          <p:cNvSpPr txBox="1"/>
          <p:nvPr/>
        </p:nvSpPr>
        <p:spPr>
          <a:xfrm>
            <a:off x="4937760" y="1664208"/>
            <a:ext cx="2743200" cy="365760"/>
          </a:xfrm>
          <a:prstGeom prst="rect">
            <a:avLst/>
          </a:prstGeom>
          <a:noFill/>
          <a:ln/>
        </p:spPr>
        <p:txBody>
          <a:bodyPr wrap="square" lIns="0" tIns="0" rIns="0" bIns="0" rtlCol="0" anchor="ctr"/>
          <a:lstStyle/>
          <a:p>
            <a:pPr indent="0" marL="0">
              <a:buNone/>
            </a:pPr>
            <a:r>
              <a:rPr lang="en-US" sz="1800" b="1" dirty="0">
                <a:solidFill>
                  <a:schemeClr val="tx1"/>
                </a:solidFill>
              </a:rPr>
              <a:t>Our way</a:t>
            </a:r>
            <a:endParaRPr lang="en-US" sz="1800" dirty="0"/>
          </a:p>
        </p:txBody>
      </p:sp>
      <p:sp>
        <p:nvSpPr>
          <p:cNvPr id="31" name="Step badge"/>
          <p:cNvSpPr/>
          <p:nvPr/>
        </p:nvSpPr>
        <p:spPr>
          <a:xfrm>
            <a:off x="4937760" y="2194560"/>
            <a:ext cx="384048" cy="384048"/>
          </a:xfrm>
          <a:prstGeom prst="ellipse">
            <a:avLst/>
          </a:prstGeom>
          <a:solidFill>
            <a:schemeClr val="accent1"/>
          </a:solidFill>
          <a:ln w="12700">
            <a:solidFill>
              <a:srgbClr val="C4590A"/>
            </a:solidFill>
            <a:prstDash val="solid"/>
          </a:ln>
        </p:spPr>
      </p:sp>
      <p:sp>
        <p:nvSpPr>
          <p:cNvPr id="32" name="Text 30"/>
          <p:cNvSpPr txBox="1"/>
          <p:nvPr/>
        </p:nvSpPr>
        <p:spPr>
          <a:xfrm>
            <a:off x="4937760" y="21945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3" name="Text 31"/>
          <p:cNvSpPr txBox="1"/>
          <p:nvPr/>
        </p:nvSpPr>
        <p:spPr>
          <a:xfrm>
            <a:off x="5413248" y="2176272"/>
            <a:ext cx="1600200" cy="274320"/>
          </a:xfrm>
          <a:prstGeom prst="rect">
            <a:avLst/>
          </a:prstGeom>
          <a:noFill/>
          <a:ln/>
        </p:spPr>
        <p:txBody>
          <a:bodyPr wrap="square" lIns="0" tIns="0" rIns="0" bIns="0" rtlCol="0" anchor="ctr"/>
          <a:lstStyle/>
          <a:p>
            <a:pPr indent="0" marL="0">
              <a:buNone/>
            </a:pPr>
            <a:r>
              <a:rPr lang="en-US" sz="1400" b="1" dirty="0">
                <a:solidFill>
                  <a:schemeClr val="tx1"/>
                </a:solidFill>
              </a:rPr>
              <a:t>Request</a:t>
            </a:r>
            <a:endParaRPr lang="en-US" sz="1400" dirty="0"/>
          </a:p>
        </p:txBody>
      </p:sp>
      <p:sp>
        <p:nvSpPr>
          <p:cNvPr id="34" name="Text 32"/>
          <p:cNvSpPr txBox="1"/>
          <p:nvPr/>
        </p:nvSpPr>
        <p:spPr>
          <a:xfrm>
            <a:off x="5413248" y="2468880"/>
            <a:ext cx="1600200" cy="685800"/>
          </a:xfrm>
          <a:prstGeom prst="rect">
            <a:avLst/>
          </a:prstGeom>
          <a:noFill/>
          <a:ln/>
        </p:spPr>
        <p:txBody>
          <a:bodyPr wrap="square" lIns="0" tIns="0" rIns="0" bIns="0" rtlCol="0" anchor="t"/>
          <a:lstStyle/>
          <a:p>
            <a:pPr indent="0" marL="0">
              <a:buNone/>
            </a:pPr>
            <a:r>
              <a:rPr lang="en-US" sz="1200" dirty="0">
                <a:solidFill>
                  <a:schemeClr val="tx1"/>
                </a:solidFill>
              </a:rPr>
              <a:t>A base asks for supplies</a:t>
            </a:r>
            <a:endParaRPr lang="en-US" sz="1200" dirty="0"/>
          </a:p>
        </p:txBody>
      </p:sp>
      <p:sp>
        <p:nvSpPr>
          <p:cNvPr id="35" name="Step badge"/>
          <p:cNvSpPr/>
          <p:nvPr/>
        </p:nvSpPr>
        <p:spPr>
          <a:xfrm>
            <a:off x="7132320" y="2194560"/>
            <a:ext cx="384048" cy="384048"/>
          </a:xfrm>
          <a:prstGeom prst="ellipse">
            <a:avLst/>
          </a:prstGeom>
          <a:solidFill>
            <a:schemeClr val="accent1"/>
          </a:solidFill>
          <a:ln w="12700">
            <a:solidFill>
              <a:srgbClr val="C4590A"/>
            </a:solidFill>
            <a:prstDash val="solid"/>
          </a:ln>
        </p:spPr>
      </p:sp>
      <p:sp>
        <p:nvSpPr>
          <p:cNvPr id="36" name="Text 34"/>
          <p:cNvSpPr txBox="1"/>
          <p:nvPr/>
        </p:nvSpPr>
        <p:spPr>
          <a:xfrm>
            <a:off x="7132320" y="21945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7" name="Text 35"/>
          <p:cNvSpPr txBox="1"/>
          <p:nvPr/>
        </p:nvSpPr>
        <p:spPr>
          <a:xfrm>
            <a:off x="7607808" y="2176272"/>
            <a:ext cx="1600200" cy="274320"/>
          </a:xfrm>
          <a:prstGeom prst="rect">
            <a:avLst/>
          </a:prstGeom>
          <a:noFill/>
          <a:ln/>
        </p:spPr>
        <p:txBody>
          <a:bodyPr wrap="square" lIns="0" tIns="0" rIns="0" bIns="0" rtlCol="0" anchor="ctr"/>
          <a:lstStyle/>
          <a:p>
            <a:pPr indent="0" marL="0">
              <a:buNone/>
            </a:pPr>
            <a:r>
              <a:rPr lang="en-US" sz="1400" b="1" dirty="0">
                <a:solidFill>
                  <a:schemeClr val="tx1"/>
                </a:solidFill>
              </a:rPr>
              <a:t>Approve</a:t>
            </a:r>
            <a:endParaRPr lang="en-US" sz="1400" dirty="0"/>
          </a:p>
        </p:txBody>
      </p:sp>
      <p:sp>
        <p:nvSpPr>
          <p:cNvPr id="38" name="Text 36"/>
          <p:cNvSpPr txBox="1"/>
          <p:nvPr/>
        </p:nvSpPr>
        <p:spPr>
          <a:xfrm>
            <a:off x="7607808" y="2468880"/>
            <a:ext cx="1600200" cy="685800"/>
          </a:xfrm>
          <a:prstGeom prst="rect">
            <a:avLst/>
          </a:prstGeom>
          <a:noFill/>
          <a:ln/>
        </p:spPr>
        <p:txBody>
          <a:bodyPr wrap="square" lIns="0" tIns="0" rIns="0" bIns="0" rtlCol="0" anchor="t"/>
          <a:lstStyle/>
          <a:p>
            <a:pPr indent="0" marL="0">
              <a:buNone/>
            </a:pPr>
            <a:r>
              <a:rPr lang="en-US" sz="1200" dirty="0">
                <a:solidFill>
                  <a:schemeClr val="tx1"/>
                </a:solidFill>
              </a:rPr>
              <a:t>A commander says yes</a:t>
            </a:r>
            <a:endParaRPr lang="en-US" sz="1200" dirty="0"/>
          </a:p>
        </p:txBody>
      </p:sp>
      <p:sp>
        <p:nvSpPr>
          <p:cNvPr id="39" name="Step badge"/>
          <p:cNvSpPr/>
          <p:nvPr/>
        </p:nvSpPr>
        <p:spPr>
          <a:xfrm>
            <a:off x="9326880" y="2194560"/>
            <a:ext cx="384048" cy="384048"/>
          </a:xfrm>
          <a:prstGeom prst="ellipse">
            <a:avLst/>
          </a:prstGeom>
          <a:solidFill>
            <a:schemeClr val="accent1"/>
          </a:solidFill>
          <a:ln w="12700">
            <a:solidFill>
              <a:srgbClr val="C4590A"/>
            </a:solidFill>
            <a:prstDash val="solid"/>
          </a:ln>
        </p:spPr>
      </p:sp>
      <p:sp>
        <p:nvSpPr>
          <p:cNvPr id="40" name="Text 38"/>
          <p:cNvSpPr txBox="1"/>
          <p:nvPr/>
        </p:nvSpPr>
        <p:spPr>
          <a:xfrm>
            <a:off x="9326880" y="21945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41" name="Text 39"/>
          <p:cNvSpPr txBox="1"/>
          <p:nvPr/>
        </p:nvSpPr>
        <p:spPr>
          <a:xfrm>
            <a:off x="9802368" y="2176272"/>
            <a:ext cx="1600200" cy="274320"/>
          </a:xfrm>
          <a:prstGeom prst="rect">
            <a:avLst/>
          </a:prstGeom>
          <a:noFill/>
          <a:ln/>
        </p:spPr>
        <p:txBody>
          <a:bodyPr wrap="square" lIns="0" tIns="0" rIns="0" bIns="0" rtlCol="0" anchor="ctr"/>
          <a:lstStyle/>
          <a:p>
            <a:pPr indent="0" marL="0">
              <a:buNone/>
            </a:pPr>
            <a:r>
              <a:rPr lang="en-US" sz="1400" b="1" dirty="0">
                <a:solidFill>
                  <a:schemeClr val="tx1"/>
                </a:solidFill>
              </a:rPr>
              <a:t>Pick a source</a:t>
            </a:r>
            <a:endParaRPr lang="en-US" sz="1400" dirty="0"/>
          </a:p>
        </p:txBody>
      </p:sp>
      <p:sp>
        <p:nvSpPr>
          <p:cNvPr id="42" name="Text 40"/>
          <p:cNvSpPr txBox="1"/>
          <p:nvPr/>
        </p:nvSpPr>
        <p:spPr>
          <a:xfrm>
            <a:off x="9802368" y="2468880"/>
            <a:ext cx="1600200" cy="685800"/>
          </a:xfrm>
          <a:prstGeom prst="rect">
            <a:avLst/>
          </a:prstGeom>
          <a:noFill/>
          <a:ln/>
        </p:spPr>
        <p:txBody>
          <a:bodyPr wrap="square" lIns="0" tIns="0" rIns="0" bIns="0" rtlCol="0" anchor="t"/>
          <a:lstStyle/>
          <a:p>
            <a:pPr indent="0" marL="0">
              <a:buNone/>
            </a:pPr>
            <a:r>
              <a:rPr lang="en-US" sz="1200" dirty="0">
                <a:solidFill>
                  <a:schemeClr val="tx1"/>
                </a:solidFill>
              </a:rPr>
              <a:t>A rule chooses the donor base</a:t>
            </a:r>
            <a:endParaRPr lang="en-US" sz="1200" dirty="0"/>
          </a:p>
        </p:txBody>
      </p:sp>
      <p:sp>
        <p:nvSpPr>
          <p:cNvPr id="43" name="Step badge"/>
          <p:cNvSpPr/>
          <p:nvPr/>
        </p:nvSpPr>
        <p:spPr>
          <a:xfrm>
            <a:off x="4937760" y="3474720"/>
            <a:ext cx="384048" cy="384048"/>
          </a:xfrm>
          <a:prstGeom prst="ellipse">
            <a:avLst/>
          </a:prstGeom>
          <a:solidFill>
            <a:schemeClr val="accent1"/>
          </a:solidFill>
          <a:ln w="12700">
            <a:solidFill>
              <a:srgbClr val="C4590A"/>
            </a:solidFill>
            <a:prstDash val="solid"/>
          </a:ln>
        </p:spPr>
      </p:sp>
      <p:sp>
        <p:nvSpPr>
          <p:cNvPr id="44" name="Text 42"/>
          <p:cNvSpPr txBox="1"/>
          <p:nvPr/>
        </p:nvSpPr>
        <p:spPr>
          <a:xfrm>
            <a:off x="4937760" y="3474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45" name="Text 43"/>
          <p:cNvSpPr txBox="1"/>
          <p:nvPr/>
        </p:nvSpPr>
        <p:spPr>
          <a:xfrm>
            <a:off x="5413248" y="3456432"/>
            <a:ext cx="1600200" cy="274320"/>
          </a:xfrm>
          <a:prstGeom prst="rect">
            <a:avLst/>
          </a:prstGeom>
          <a:noFill/>
          <a:ln/>
        </p:spPr>
        <p:txBody>
          <a:bodyPr wrap="square" lIns="0" tIns="0" rIns="0" bIns="0" rtlCol="0" anchor="ctr"/>
          <a:lstStyle/>
          <a:p>
            <a:pPr indent="0" marL="0">
              <a:buNone/>
            </a:pPr>
            <a:r>
              <a:rPr lang="en-US" sz="1400" b="1" dirty="0">
                <a:solidFill>
                  <a:schemeClr val="tx1"/>
                </a:solidFill>
              </a:rPr>
              <a:t>Pick a vehicle</a:t>
            </a:r>
            <a:endParaRPr lang="en-US" sz="1400" dirty="0"/>
          </a:p>
        </p:txBody>
      </p:sp>
      <p:sp>
        <p:nvSpPr>
          <p:cNvPr id="46" name="Text 44"/>
          <p:cNvSpPr txBox="1"/>
          <p:nvPr/>
        </p:nvSpPr>
        <p:spPr>
          <a:xfrm>
            <a:off x="5413248" y="3749040"/>
            <a:ext cx="1600200" cy="685800"/>
          </a:xfrm>
          <a:prstGeom prst="rect">
            <a:avLst/>
          </a:prstGeom>
          <a:noFill/>
          <a:ln/>
        </p:spPr>
        <p:txBody>
          <a:bodyPr wrap="square" lIns="0" tIns="0" rIns="0" bIns="0" rtlCol="0" anchor="t"/>
          <a:lstStyle/>
          <a:p>
            <a:pPr indent="0" marL="0">
              <a:buNone/>
            </a:pPr>
            <a:r>
              <a:rPr lang="en-US" sz="1200" dirty="0">
                <a:solidFill>
                  <a:schemeClr val="tx1"/>
                </a:solidFill>
              </a:rPr>
              <a:t>A rule chooses what carries it</a:t>
            </a:r>
            <a:endParaRPr lang="en-US" sz="1200" dirty="0"/>
          </a:p>
        </p:txBody>
      </p:sp>
      <p:sp>
        <p:nvSpPr>
          <p:cNvPr id="47" name="Step badge"/>
          <p:cNvSpPr/>
          <p:nvPr/>
        </p:nvSpPr>
        <p:spPr>
          <a:xfrm>
            <a:off x="7132320" y="3474720"/>
            <a:ext cx="384048" cy="384048"/>
          </a:xfrm>
          <a:prstGeom prst="ellipse">
            <a:avLst/>
          </a:prstGeom>
          <a:solidFill>
            <a:schemeClr val="accent1"/>
          </a:solidFill>
          <a:ln w="12700">
            <a:solidFill>
              <a:srgbClr val="C4590A"/>
            </a:solidFill>
            <a:prstDash val="solid"/>
          </a:ln>
        </p:spPr>
      </p:sp>
      <p:sp>
        <p:nvSpPr>
          <p:cNvPr id="48" name="Text 46"/>
          <p:cNvSpPr txBox="1"/>
          <p:nvPr/>
        </p:nvSpPr>
        <p:spPr>
          <a:xfrm>
            <a:off x="7132320" y="3474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49" name="Text 47"/>
          <p:cNvSpPr txBox="1"/>
          <p:nvPr/>
        </p:nvSpPr>
        <p:spPr>
          <a:xfrm>
            <a:off x="7607808" y="3456432"/>
            <a:ext cx="1600200" cy="274320"/>
          </a:xfrm>
          <a:prstGeom prst="rect">
            <a:avLst/>
          </a:prstGeom>
          <a:noFill/>
          <a:ln/>
        </p:spPr>
        <p:txBody>
          <a:bodyPr wrap="square" lIns="0" tIns="0" rIns="0" bIns="0" rtlCol="0" anchor="ctr"/>
          <a:lstStyle/>
          <a:p>
            <a:pPr indent="0" marL="0">
              <a:buNone/>
            </a:pPr>
            <a:r>
              <a:rPr lang="en-US" sz="1400" b="1" dirty="0">
                <a:solidFill>
                  <a:schemeClr val="tx1"/>
                </a:solidFill>
              </a:rPr>
              <a:t>Deliver</a:t>
            </a:r>
            <a:endParaRPr lang="en-US" sz="1400" dirty="0"/>
          </a:p>
        </p:txBody>
      </p:sp>
      <p:sp>
        <p:nvSpPr>
          <p:cNvPr id="50" name="Text 48"/>
          <p:cNvSpPr txBox="1"/>
          <p:nvPr/>
        </p:nvSpPr>
        <p:spPr>
          <a:xfrm>
            <a:off x="7607808" y="3749040"/>
            <a:ext cx="1600200" cy="685800"/>
          </a:xfrm>
          <a:prstGeom prst="rect">
            <a:avLst/>
          </a:prstGeom>
          <a:noFill/>
          <a:ln/>
        </p:spPr>
        <p:txBody>
          <a:bodyPr wrap="square" lIns="0" tIns="0" rIns="0" bIns="0" rtlCol="0" anchor="t"/>
          <a:lstStyle/>
          <a:p>
            <a:pPr indent="0" marL="0">
              <a:buNone/>
            </a:pPr>
            <a:r>
              <a:rPr lang="en-US" sz="1200" dirty="0">
                <a:solidFill>
                  <a:schemeClr val="tx1"/>
                </a:solidFill>
              </a:rPr>
              <a:t>Stock leaves, the vehicle travels</a:t>
            </a:r>
            <a:endParaRPr lang="en-US" sz="1200" dirty="0"/>
          </a:p>
        </p:txBody>
      </p:sp>
      <p:sp>
        <p:nvSpPr>
          <p:cNvPr id="51" name="Step badge"/>
          <p:cNvSpPr/>
          <p:nvPr/>
        </p:nvSpPr>
        <p:spPr>
          <a:xfrm>
            <a:off x="9326880" y="3474720"/>
            <a:ext cx="384048" cy="384048"/>
          </a:xfrm>
          <a:prstGeom prst="ellipse">
            <a:avLst/>
          </a:prstGeom>
          <a:solidFill>
            <a:schemeClr val="accent1"/>
          </a:solidFill>
          <a:ln w="12700">
            <a:solidFill>
              <a:srgbClr val="C4590A"/>
            </a:solidFill>
            <a:prstDash val="solid"/>
          </a:ln>
        </p:spPr>
      </p:sp>
      <p:sp>
        <p:nvSpPr>
          <p:cNvPr id="52" name="Text 50"/>
          <p:cNvSpPr txBox="1"/>
          <p:nvPr/>
        </p:nvSpPr>
        <p:spPr>
          <a:xfrm>
            <a:off x="9326880" y="3474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53" name="Text 51"/>
          <p:cNvSpPr txBox="1"/>
          <p:nvPr/>
        </p:nvSpPr>
        <p:spPr>
          <a:xfrm>
            <a:off x="9802368" y="3456432"/>
            <a:ext cx="1600200" cy="274320"/>
          </a:xfrm>
          <a:prstGeom prst="rect">
            <a:avLst/>
          </a:prstGeom>
          <a:noFill/>
          <a:ln/>
        </p:spPr>
        <p:txBody>
          <a:bodyPr wrap="square" lIns="0" tIns="0" rIns="0" bIns="0" rtlCol="0" anchor="ctr"/>
          <a:lstStyle/>
          <a:p>
            <a:pPr indent="0" marL="0">
              <a:buNone/>
            </a:pPr>
            <a:r>
              <a:rPr lang="en-US" sz="1400" b="1" dirty="0">
                <a:solidFill>
                  <a:schemeClr val="tx1"/>
                </a:solidFill>
              </a:rPr>
              <a:t>Report</a:t>
            </a:r>
            <a:endParaRPr lang="en-US" sz="1400" dirty="0"/>
          </a:p>
        </p:txBody>
      </p:sp>
      <p:sp>
        <p:nvSpPr>
          <p:cNvPr id="54" name="Text 52"/>
          <p:cNvSpPr txBox="1"/>
          <p:nvPr/>
        </p:nvSpPr>
        <p:spPr>
          <a:xfrm>
            <a:off x="9802368" y="3749040"/>
            <a:ext cx="1600200" cy="685800"/>
          </a:xfrm>
          <a:prstGeom prst="rect">
            <a:avLst/>
          </a:prstGeom>
          <a:noFill/>
          <a:ln/>
        </p:spPr>
        <p:txBody>
          <a:bodyPr wrap="square" lIns="0" tIns="0" rIns="0" bIns="0" rtlCol="0" anchor="t"/>
          <a:lstStyle/>
          <a:p>
            <a:pPr indent="0" marL="0">
              <a:buNone/>
            </a:pPr>
            <a:r>
              <a:rPr lang="en-US" sz="1200" dirty="0">
                <a:solidFill>
                  <a:schemeClr val="tx1"/>
                </a:solidFill>
              </a:rPr>
              <a:t>Inventory and KPIs update</a:t>
            </a:r>
            <a:endParaRPr lang="en-US" sz="1200" dirty="0"/>
          </a:p>
        </p:txBody>
      </p:sp>
      <p:sp>
        <p:nvSpPr>
          <p:cNvPr id="55" name="Banner"/>
          <p:cNvSpPr/>
          <p:nvPr/>
        </p:nvSpPr>
        <p:spPr>
          <a:xfrm>
            <a:off x="548640" y="5029200"/>
            <a:ext cx="11091672" cy="1097280"/>
          </a:xfrm>
          <a:prstGeom prst="rect">
            <a:avLst/>
          </a:prstGeom>
          <a:solidFill>
            <a:schemeClr val="tx1"/>
          </a:solidFill>
          <a:ln/>
        </p:spPr>
      </p:sp>
      <p:sp>
        <p:nvSpPr>
          <p:cNvPr id="56" name="Text 54"/>
          <p:cNvSpPr txBox="1"/>
          <p:nvPr/>
        </p:nvSpPr>
        <p:spPr>
          <a:xfrm>
            <a:off x="822960" y="5120640"/>
            <a:ext cx="2743200" cy="274320"/>
          </a:xfrm>
          <a:prstGeom prst="rect">
            <a:avLst/>
          </a:prstGeom>
          <a:noFill/>
          <a:ln/>
        </p:spPr>
        <p:txBody>
          <a:bodyPr wrap="square" lIns="0" tIns="0" rIns="0" bIns="0" rtlCol="0" anchor="ctr"/>
          <a:lstStyle/>
          <a:p>
            <a:pPr indent="0" marL="0">
              <a:buNone/>
            </a:pPr>
            <a:r>
              <a:rPr lang="en-US" sz="1200" b="1" dirty="0">
                <a:solidFill>
                  <a:schemeClr val="accent2"/>
                </a:solidFill>
              </a:rPr>
              <a:t>What it looks like</a:t>
            </a:r>
            <a:endParaRPr lang="en-US" sz="1200" dirty="0"/>
          </a:p>
        </p:txBody>
      </p:sp>
      <p:sp>
        <p:nvSpPr>
          <p:cNvPr id="57" name="Text 55"/>
          <p:cNvSpPr txBox="1"/>
          <p:nvPr/>
        </p:nvSpPr>
        <p:spPr>
          <a:xfrm>
            <a:off x="822960" y="5413248"/>
            <a:ext cx="10515600" cy="640080"/>
          </a:xfrm>
          <a:prstGeom prst="rect">
            <a:avLst/>
          </a:prstGeom>
          <a:noFill/>
          <a:ln/>
        </p:spPr>
        <p:txBody>
          <a:bodyPr wrap="square" lIns="0" tIns="0" rIns="0" bIns="0" rtlCol="0" anchor="t"/>
          <a:lstStyle/>
          <a:p>
            <a:pPr indent="0" marL="0">
              <a:buNone/>
            </a:pPr>
            <a:r>
              <a:rPr lang="en-US" sz="1600" dirty="0">
                <a:solidFill>
                  <a:schemeClr val="bg1"/>
                </a:solidFill>
              </a:rPr>
              <a:t>Pune holds 40 of its 120 safe-level medical kits and asks for 200. The system picks Mumbai as donor and helicopter HE-01 as carrier. Delivered in 1 hour.</a:t>
            </a:r>
            <a:endParaRPr lang="en-US" sz="1600" dirty="0"/>
          </a:p>
        </p:txBody>
      </p:sp>
      <p:sp>
        <p:nvSpPr>
          <p:cNvPr id="58" name="Source"/>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chemeClr val="accent5"/>
                </a:solidFill>
              </a:rPr>
              <a:t>Example network (small dataset), captured from the program · see the live demo, slide 8</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292608"/>
            <a:ext cx="100584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THE DESIGN</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Nine packages, one front door</a:t>
            </a:r>
            <a:endParaRPr lang="en-US" sz="3200" dirty="0"/>
          </a:p>
        </p:txBody>
      </p:sp>
      <p:sp>
        <p:nvSpPr>
          <p:cNvPr id="4" name="Card"/>
          <p:cNvSpPr/>
          <p:nvPr/>
        </p:nvSpPr>
        <p:spPr>
          <a:xfrm>
            <a:off x="548640" y="1508760"/>
            <a:ext cx="7132320" cy="685800"/>
          </a:xfrm>
          <a:prstGeom prst="rect">
            <a:avLst/>
          </a:prstGeom>
          <a:solidFill>
            <a:schemeClr val="tx2"/>
          </a:solidFill>
          <a:ln/>
          <a:effectLst>
            <a:outerShdw sx="100000" sy="100000" kx="0" ky="0" algn="bl" rotWithShape="0" blurRad="101600" dist="25400" dir="5400000">
              <a:srgbClr val="000000">
                <a:alpha val="12000"/>
              </a:srgbClr>
            </a:outerShdw>
          </a:effectLst>
        </p:spPr>
      </p:sp>
      <p:sp>
        <p:nvSpPr>
          <p:cNvPr id="5" name="Text 3"/>
          <p:cNvSpPr txBox="1"/>
          <p:nvPr/>
        </p:nvSpPr>
        <p:spPr>
          <a:xfrm>
            <a:off x="685800" y="1581912"/>
            <a:ext cx="6858000" cy="274320"/>
          </a:xfrm>
          <a:prstGeom prst="rect">
            <a:avLst/>
          </a:prstGeom>
          <a:noFill/>
          <a:ln/>
        </p:spPr>
        <p:txBody>
          <a:bodyPr wrap="square" lIns="0" tIns="0" rIns="0" bIns="0" rtlCol="0" anchor="ctr"/>
          <a:lstStyle/>
          <a:p>
            <a:pPr indent="0" marL="0">
              <a:buNone/>
            </a:pPr>
            <a:r>
              <a:rPr lang="en-US" sz="1400" b="1" dirty="0">
                <a:solidFill>
                  <a:schemeClr val="bg1"/>
                </a:solidFill>
              </a:rPr>
              <a:t>ui</a:t>
            </a:r>
            <a:endParaRPr lang="en-US" sz="1400" dirty="0"/>
          </a:p>
        </p:txBody>
      </p:sp>
      <p:sp>
        <p:nvSpPr>
          <p:cNvPr id="6" name="Text 4"/>
          <p:cNvSpPr txBox="1"/>
          <p:nvPr/>
        </p:nvSpPr>
        <p:spPr>
          <a:xfrm>
            <a:off x="685800" y="1874520"/>
            <a:ext cx="6858000" cy="246888"/>
          </a:xfrm>
          <a:prstGeom prst="rect">
            <a:avLst/>
          </a:prstGeom>
          <a:noFill/>
          <a:ln/>
        </p:spPr>
        <p:txBody>
          <a:bodyPr wrap="square" lIns="0" tIns="0" rIns="0" bIns="0" rtlCol="0" anchor="t"/>
          <a:lstStyle/>
          <a:p>
            <a:pPr indent="0" marL="0">
              <a:buNone/>
            </a:pPr>
            <a:r>
              <a:rPr lang="en-US" sz="1100" dirty="0">
                <a:solidFill>
                  <a:srgbClr val="C9D3E3"/>
                </a:solidFill>
              </a:rPr>
              <a:t>Terminal, CommandParser, Screens: the Bloomberg-style text terminal</a:t>
            </a:r>
            <a:endParaRPr lang="en-US" sz="1100" dirty="0"/>
          </a:p>
        </p:txBody>
      </p:sp>
      <p:sp>
        <p:nvSpPr>
          <p:cNvPr id="7" name="Line"/>
          <p:cNvSpPr/>
          <p:nvPr/>
        </p:nvSpPr>
        <p:spPr>
          <a:xfrm>
            <a:off x="4114800" y="2194560"/>
            <a:ext cx="0" cy="201168"/>
          </a:xfrm>
          <a:prstGeom prst="line">
            <a:avLst/>
          </a:prstGeom>
          <a:noFill/>
          <a:ln w="19050">
            <a:solidFill>
              <a:schemeClr val="accent5"/>
            </a:solidFill>
            <a:prstDash val="solid"/>
            <a:tailEnd type="triangle"/>
          </a:ln>
        </p:spPr>
      </p:sp>
      <p:sp>
        <p:nvSpPr>
          <p:cNvPr id="8" name="Card"/>
          <p:cNvSpPr/>
          <p:nvPr/>
        </p:nvSpPr>
        <p:spPr>
          <a:xfrm>
            <a:off x="548640" y="2395728"/>
            <a:ext cx="7132320" cy="731520"/>
          </a:xfrm>
          <a:prstGeom prst="rect">
            <a:avLst/>
          </a:prstGeom>
          <a:solidFill>
            <a:schemeClr val="accent1"/>
          </a:solidFill>
          <a:ln/>
          <a:effectLst>
            <a:outerShdw sx="100000" sy="100000" kx="0" ky="0" algn="bl" rotWithShape="0" blurRad="101600" dist="25400" dir="5400000">
              <a:srgbClr val="000000">
                <a:alpha val="12000"/>
              </a:srgbClr>
            </a:outerShdw>
          </a:effectLst>
        </p:spPr>
      </p:sp>
      <p:sp>
        <p:nvSpPr>
          <p:cNvPr id="9" name="Text 7"/>
          <p:cNvSpPr txBox="1"/>
          <p:nvPr/>
        </p:nvSpPr>
        <p:spPr>
          <a:xfrm>
            <a:off x="685800" y="2468880"/>
            <a:ext cx="6858000" cy="274320"/>
          </a:xfrm>
          <a:prstGeom prst="rect">
            <a:avLst/>
          </a:prstGeom>
          <a:noFill/>
          <a:ln/>
        </p:spPr>
        <p:txBody>
          <a:bodyPr wrap="square" lIns="0" tIns="0" rIns="0" bIns="0" rtlCol="0" anchor="ctr"/>
          <a:lstStyle/>
          <a:p>
            <a:pPr indent="0" marL="0">
              <a:buNone/>
            </a:pPr>
            <a:r>
              <a:rPr lang="en-US" sz="1400" b="1" dirty="0">
                <a:solidFill>
                  <a:schemeClr val="bg1"/>
                </a:solidFill>
              </a:rPr>
              <a:t>service.LogisticsManager   (facade)</a:t>
            </a:r>
            <a:endParaRPr lang="en-US" sz="1400" dirty="0"/>
          </a:p>
        </p:txBody>
      </p:sp>
      <p:sp>
        <p:nvSpPr>
          <p:cNvPr id="10" name="Text 8"/>
          <p:cNvSpPr txBox="1"/>
          <p:nvPr/>
        </p:nvSpPr>
        <p:spPr>
          <a:xfrm>
            <a:off x="685800" y="2761488"/>
            <a:ext cx="6858000" cy="292608"/>
          </a:xfrm>
          <a:prstGeom prst="rect">
            <a:avLst/>
          </a:prstGeom>
          <a:noFill/>
          <a:ln/>
        </p:spPr>
        <p:txBody>
          <a:bodyPr wrap="square" lIns="0" tIns="0" rIns="0" bIns="0" rtlCol="0" anchor="t"/>
          <a:lstStyle/>
          <a:p>
            <a:pPr indent="0" marL="0">
              <a:buNone/>
            </a:pPr>
            <a:r>
              <a:rPr lang="en-US" sz="1100" dirty="0">
                <a:solidFill>
                  <a:schemeClr val="bg1"/>
                </a:solidFill>
              </a:rPr>
              <a:t>The single entry point: the UI only ever talks to this class</a:t>
            </a:r>
            <a:endParaRPr lang="en-US" sz="1100" dirty="0"/>
          </a:p>
        </p:txBody>
      </p:sp>
      <p:sp>
        <p:nvSpPr>
          <p:cNvPr id="11" name="Line"/>
          <p:cNvSpPr/>
          <p:nvPr/>
        </p:nvSpPr>
        <p:spPr>
          <a:xfrm>
            <a:off x="2286000" y="3127248"/>
            <a:ext cx="0" cy="201168"/>
          </a:xfrm>
          <a:prstGeom prst="line">
            <a:avLst/>
          </a:prstGeom>
          <a:noFill/>
          <a:ln w="19050">
            <a:solidFill>
              <a:schemeClr val="accent5"/>
            </a:solidFill>
            <a:prstDash val="solid"/>
            <a:tailEnd type="triangle"/>
          </a:ln>
        </p:spPr>
      </p:sp>
      <p:sp>
        <p:nvSpPr>
          <p:cNvPr id="12" name="Line"/>
          <p:cNvSpPr/>
          <p:nvPr/>
        </p:nvSpPr>
        <p:spPr>
          <a:xfrm>
            <a:off x="5943600" y="3127248"/>
            <a:ext cx="0" cy="201168"/>
          </a:xfrm>
          <a:prstGeom prst="line">
            <a:avLst/>
          </a:prstGeom>
          <a:noFill/>
          <a:ln w="19050">
            <a:solidFill>
              <a:schemeClr val="accent5"/>
            </a:solidFill>
            <a:prstDash val="solid"/>
            <a:tailEnd type="triangle"/>
          </a:ln>
        </p:spPr>
      </p:sp>
      <p:sp>
        <p:nvSpPr>
          <p:cNvPr id="13" name="Card"/>
          <p:cNvSpPr/>
          <p:nvPr/>
        </p:nvSpPr>
        <p:spPr>
          <a:xfrm>
            <a:off x="548640" y="3328416"/>
            <a:ext cx="3474720" cy="1188720"/>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685800" y="3401568"/>
            <a:ext cx="3200400" cy="274320"/>
          </a:xfrm>
          <a:prstGeom prst="rect">
            <a:avLst/>
          </a:prstGeom>
          <a:noFill/>
          <a:ln/>
        </p:spPr>
        <p:txBody>
          <a:bodyPr wrap="square" lIns="0" tIns="0" rIns="0" bIns="0" rtlCol="0" anchor="ctr"/>
          <a:lstStyle/>
          <a:p>
            <a:pPr indent="0" marL="0">
              <a:buNone/>
            </a:pPr>
            <a:r>
              <a:rPr lang="en-US" sz="1400" b="1" dirty="0">
                <a:solidFill>
                  <a:schemeClr val="tx1"/>
                </a:solidFill>
              </a:rPr>
              <a:t>service</a:t>
            </a:r>
            <a:endParaRPr lang="en-US" sz="1400" dirty="0"/>
          </a:p>
        </p:txBody>
      </p:sp>
      <p:sp>
        <p:nvSpPr>
          <p:cNvPr id="15" name="Text 13"/>
          <p:cNvSpPr txBox="1"/>
          <p:nvPr/>
        </p:nvSpPr>
        <p:spPr>
          <a:xfrm>
            <a:off x="685800" y="3694176"/>
            <a:ext cx="3200400" cy="749808"/>
          </a:xfrm>
          <a:prstGeom prst="rect">
            <a:avLst/>
          </a:prstGeom>
          <a:noFill/>
          <a:ln/>
        </p:spPr>
        <p:txBody>
          <a:bodyPr wrap="square" lIns="0" tIns="0" rIns="0" bIns="0" rtlCol="0" anchor="t"/>
          <a:lstStyle/>
          <a:p>
            <a:pPr indent="0" marL="0">
              <a:buNone/>
            </a:pPr>
            <a:r>
              <a:rPr lang="en-US" sz="1100" dirty="0">
                <a:solidFill>
                  <a:schemeClr val="tx1"/>
                </a:solidFill>
              </a:rPr>
              <a:t>InventoryService · FleetService · RequestService · DeliveryService · ReportService · SimClock</a:t>
            </a:r>
            <a:endParaRPr lang="en-US" sz="1100" dirty="0"/>
          </a:p>
        </p:txBody>
      </p:sp>
      <p:sp>
        <p:nvSpPr>
          <p:cNvPr id="16" name="Card"/>
          <p:cNvSpPr/>
          <p:nvPr/>
        </p:nvSpPr>
        <p:spPr>
          <a:xfrm>
            <a:off x="4206240" y="3328416"/>
            <a:ext cx="3474720" cy="1188720"/>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17" name="Text 15"/>
          <p:cNvSpPr txBox="1"/>
          <p:nvPr/>
        </p:nvSpPr>
        <p:spPr>
          <a:xfrm>
            <a:off x="4343400" y="3401568"/>
            <a:ext cx="3200400" cy="274320"/>
          </a:xfrm>
          <a:prstGeom prst="rect">
            <a:avLst/>
          </a:prstGeom>
          <a:noFill/>
          <a:ln/>
        </p:spPr>
        <p:txBody>
          <a:bodyPr wrap="square" lIns="0" tIns="0" rIns="0" bIns="0" rtlCol="0" anchor="ctr"/>
          <a:lstStyle/>
          <a:p>
            <a:pPr indent="0" marL="0">
              <a:buNone/>
            </a:pPr>
            <a:r>
              <a:rPr lang="en-US" sz="1400" b="1" dirty="0">
                <a:solidFill>
                  <a:schemeClr val="tx1"/>
                </a:solidFill>
              </a:rPr>
              <a:t>strategy</a:t>
            </a:r>
            <a:endParaRPr lang="en-US" sz="1400" dirty="0"/>
          </a:p>
        </p:txBody>
      </p:sp>
      <p:sp>
        <p:nvSpPr>
          <p:cNvPr id="18" name="Text 16"/>
          <p:cNvSpPr txBox="1"/>
          <p:nvPr/>
        </p:nvSpPr>
        <p:spPr>
          <a:xfrm>
            <a:off x="4343400" y="3694176"/>
            <a:ext cx="3200400" cy="749808"/>
          </a:xfrm>
          <a:prstGeom prst="rect">
            <a:avLst/>
          </a:prstGeom>
          <a:noFill/>
          <a:ln/>
        </p:spPr>
        <p:txBody>
          <a:bodyPr wrap="square" lIns="0" tIns="0" rIns="0" bIns="0" rtlCol="0" anchor="t"/>
          <a:lstStyle/>
          <a:p>
            <a:pPr indent="0" marL="0">
              <a:buNone/>
            </a:pPr>
            <a:r>
              <a:rPr lang="en-US" sz="1100" dirty="0">
                <a:solidFill>
                  <a:schemeClr val="tx1"/>
                </a:solidFill>
              </a:rPr>
              <a:t>Source rules: NearestFirst, MostSurplus, Balanced</a:t>
            </a:r>
            <a:endParaRPr lang="en-US" sz="1100" dirty="0"/>
          </a:p>
          <a:p>
            <a:pPr indent="0" marL="0">
              <a:buNone/>
            </a:pPr>
            <a:r>
              <a:rPr lang="en-US" sz="1100" dirty="0">
                <a:solidFill>
                  <a:schemeClr val="tx1"/>
                </a:solidFill>
              </a:rPr>
              <a:t>Vehicle rules: SmallestFit, FastestFit</a:t>
            </a:r>
            <a:endParaRPr lang="en-US" sz="1100" dirty="0"/>
          </a:p>
        </p:txBody>
      </p:sp>
      <p:sp>
        <p:nvSpPr>
          <p:cNvPr id="19" name="Line"/>
          <p:cNvSpPr/>
          <p:nvPr/>
        </p:nvSpPr>
        <p:spPr>
          <a:xfrm>
            <a:off x="4114800" y="4517136"/>
            <a:ext cx="0" cy="201168"/>
          </a:xfrm>
          <a:prstGeom prst="line">
            <a:avLst/>
          </a:prstGeom>
          <a:noFill/>
          <a:ln w="19050">
            <a:solidFill>
              <a:schemeClr val="accent5"/>
            </a:solidFill>
            <a:prstDash val="solid"/>
            <a:tailEnd type="triangle"/>
          </a:ln>
        </p:spPr>
      </p:sp>
      <p:sp>
        <p:nvSpPr>
          <p:cNvPr id="20" name="Card"/>
          <p:cNvSpPr/>
          <p:nvPr/>
        </p:nvSpPr>
        <p:spPr>
          <a:xfrm>
            <a:off x="548640" y="4718304"/>
            <a:ext cx="1645920" cy="1371600"/>
          </a:xfrm>
          <a:prstGeom prst="rect">
            <a:avLst/>
          </a:prstGeom>
          <a:solidFill>
            <a:srgbClr val="FBE8C8"/>
          </a:solidFill>
          <a:ln/>
          <a:effectLst>
            <a:outerShdw sx="100000" sy="100000" kx="0" ky="0" algn="bl" rotWithShape="0" blurRad="101600" dist="25400" dir="5400000">
              <a:srgbClr val="000000">
                <a:alpha val="12000"/>
              </a:srgbClr>
            </a:outerShdw>
          </a:effectLst>
        </p:spPr>
      </p:sp>
      <p:sp>
        <p:nvSpPr>
          <p:cNvPr id="21" name="Text 19"/>
          <p:cNvSpPr txBox="1"/>
          <p:nvPr/>
        </p:nvSpPr>
        <p:spPr>
          <a:xfrm>
            <a:off x="685800" y="4791456"/>
            <a:ext cx="1371600" cy="274320"/>
          </a:xfrm>
          <a:prstGeom prst="rect">
            <a:avLst/>
          </a:prstGeom>
          <a:noFill/>
          <a:ln/>
        </p:spPr>
        <p:txBody>
          <a:bodyPr wrap="square" lIns="0" tIns="0" rIns="0" bIns="0" rtlCol="0" anchor="ctr"/>
          <a:lstStyle/>
          <a:p>
            <a:pPr indent="0" marL="0">
              <a:buNone/>
            </a:pPr>
            <a:r>
              <a:rPr lang="en-US" sz="1400" b="1" dirty="0">
                <a:solidFill>
                  <a:schemeClr val="tx1"/>
                </a:solidFill>
              </a:rPr>
              <a:t>model</a:t>
            </a:r>
            <a:endParaRPr lang="en-US" sz="1400" dirty="0"/>
          </a:p>
        </p:txBody>
      </p:sp>
      <p:sp>
        <p:nvSpPr>
          <p:cNvPr id="22" name="Text 20"/>
          <p:cNvSpPr txBox="1"/>
          <p:nvPr/>
        </p:nvSpPr>
        <p:spPr>
          <a:xfrm>
            <a:off x="685800" y="5084064"/>
            <a:ext cx="1371600" cy="932688"/>
          </a:xfrm>
          <a:prstGeom prst="rect">
            <a:avLst/>
          </a:prstGeom>
          <a:noFill/>
          <a:ln/>
        </p:spPr>
        <p:txBody>
          <a:bodyPr wrap="square" lIns="0" tIns="0" rIns="0" bIns="0" rtlCol="0" anchor="t"/>
          <a:lstStyle/>
          <a:p>
            <a:pPr indent="0" marL="0">
              <a:buNone/>
            </a:pPr>
            <a:r>
              <a:rPr lang="en-US" sz="1100" dirty="0">
                <a:solidFill>
                  <a:schemeClr val="tx1"/>
                </a:solidFill>
              </a:rPr>
              <a:t>Base, Supply, Request, Delivery + model.vehicle (Vehicle and 4 subclasses)</a:t>
            </a:r>
            <a:endParaRPr lang="en-US" sz="1100" dirty="0"/>
          </a:p>
        </p:txBody>
      </p:sp>
      <p:sp>
        <p:nvSpPr>
          <p:cNvPr id="23" name="Card"/>
          <p:cNvSpPr/>
          <p:nvPr/>
        </p:nvSpPr>
        <p:spPr>
          <a:xfrm>
            <a:off x="2377440" y="4718304"/>
            <a:ext cx="1645920" cy="1371600"/>
          </a:xfrm>
          <a:prstGeom prst="rect">
            <a:avLst/>
          </a:prstGeom>
          <a:solidFill>
            <a:srgbClr val="FBE8C8"/>
          </a:solidFill>
          <a:ln/>
          <a:effectLst>
            <a:outerShdw sx="100000" sy="100000" kx="0" ky="0" algn="bl" rotWithShape="0" blurRad="101600" dist="25400" dir="5400000">
              <a:srgbClr val="000000">
                <a:alpha val="12000"/>
              </a:srgbClr>
            </a:outerShdw>
          </a:effectLst>
        </p:spPr>
      </p:sp>
      <p:sp>
        <p:nvSpPr>
          <p:cNvPr id="24" name="Text 22"/>
          <p:cNvSpPr txBox="1"/>
          <p:nvPr/>
        </p:nvSpPr>
        <p:spPr>
          <a:xfrm>
            <a:off x="2514600" y="4791456"/>
            <a:ext cx="1371600" cy="274320"/>
          </a:xfrm>
          <a:prstGeom prst="rect">
            <a:avLst/>
          </a:prstGeom>
          <a:noFill/>
          <a:ln/>
        </p:spPr>
        <p:txBody>
          <a:bodyPr wrap="square" lIns="0" tIns="0" rIns="0" bIns="0" rtlCol="0" anchor="ctr"/>
          <a:lstStyle/>
          <a:p>
            <a:pPr indent="0" marL="0">
              <a:buNone/>
            </a:pPr>
            <a:r>
              <a:rPr lang="en-US" sz="1400" b="1" dirty="0">
                <a:solidFill>
                  <a:schemeClr val="tx1"/>
                </a:solidFill>
              </a:rPr>
              <a:t>persistence</a:t>
            </a:r>
            <a:endParaRPr lang="en-US" sz="1400" dirty="0"/>
          </a:p>
        </p:txBody>
      </p:sp>
      <p:sp>
        <p:nvSpPr>
          <p:cNvPr id="25" name="Text 23"/>
          <p:cNvSpPr txBox="1"/>
          <p:nvPr/>
        </p:nvSpPr>
        <p:spPr>
          <a:xfrm>
            <a:off x="2514600" y="5084064"/>
            <a:ext cx="1371600" cy="932688"/>
          </a:xfrm>
          <a:prstGeom prst="rect">
            <a:avLst/>
          </a:prstGeom>
          <a:noFill/>
          <a:ln/>
        </p:spPr>
        <p:txBody>
          <a:bodyPr wrap="square" lIns="0" tIns="0" rIns="0" bIns="0" rtlCol="0" anchor="t"/>
          <a:lstStyle/>
          <a:p>
            <a:pPr indent="0" marL="0">
              <a:buNone/>
            </a:pPr>
            <a:r>
              <a:rPr lang="en-US" sz="1100" dirty="0">
                <a:solidFill>
                  <a:schemeClr val="tx1"/>
                </a:solidFill>
              </a:rPr>
              <a:t>CsvRepository&lt;T&gt;, DataStore: save and load as CSV</a:t>
            </a:r>
            <a:endParaRPr lang="en-US" sz="1100" dirty="0"/>
          </a:p>
        </p:txBody>
      </p:sp>
      <p:sp>
        <p:nvSpPr>
          <p:cNvPr id="26" name="Card"/>
          <p:cNvSpPr/>
          <p:nvPr/>
        </p:nvSpPr>
        <p:spPr>
          <a:xfrm>
            <a:off x="4206240" y="4718304"/>
            <a:ext cx="1645920" cy="1371600"/>
          </a:xfrm>
          <a:prstGeom prst="rect">
            <a:avLst/>
          </a:prstGeom>
          <a:solidFill>
            <a:srgbClr val="FBE8C8"/>
          </a:solidFill>
          <a:ln/>
          <a:effectLst>
            <a:outerShdw sx="100000" sy="100000" kx="0" ky="0" algn="bl" rotWithShape="0" blurRad="101600" dist="25400" dir="5400000">
              <a:srgbClr val="000000">
                <a:alpha val="12000"/>
              </a:srgbClr>
            </a:outerShdw>
          </a:effectLst>
        </p:spPr>
      </p:sp>
      <p:sp>
        <p:nvSpPr>
          <p:cNvPr id="27" name="Text 25"/>
          <p:cNvSpPr txBox="1"/>
          <p:nvPr/>
        </p:nvSpPr>
        <p:spPr>
          <a:xfrm>
            <a:off x="4343400" y="4791456"/>
            <a:ext cx="1371600" cy="274320"/>
          </a:xfrm>
          <a:prstGeom prst="rect">
            <a:avLst/>
          </a:prstGeom>
          <a:noFill/>
          <a:ln/>
        </p:spPr>
        <p:txBody>
          <a:bodyPr wrap="square" lIns="0" tIns="0" rIns="0" bIns="0" rtlCol="0" anchor="ctr"/>
          <a:lstStyle/>
          <a:p>
            <a:pPr indent="0" marL="0">
              <a:buNone/>
            </a:pPr>
            <a:r>
              <a:rPr lang="en-US" sz="1400" b="1" dirty="0">
                <a:solidFill>
                  <a:schemeClr val="tx1"/>
                </a:solidFill>
              </a:rPr>
              <a:t>exception</a:t>
            </a:r>
            <a:endParaRPr lang="en-US" sz="1400" dirty="0"/>
          </a:p>
        </p:txBody>
      </p:sp>
      <p:sp>
        <p:nvSpPr>
          <p:cNvPr id="28" name="Text 26"/>
          <p:cNvSpPr txBox="1"/>
          <p:nvPr/>
        </p:nvSpPr>
        <p:spPr>
          <a:xfrm>
            <a:off x="4343400" y="5084064"/>
            <a:ext cx="1371600" cy="932688"/>
          </a:xfrm>
          <a:prstGeom prst="rect">
            <a:avLst/>
          </a:prstGeom>
          <a:noFill/>
          <a:ln/>
        </p:spPr>
        <p:txBody>
          <a:bodyPr wrap="square" lIns="0" tIns="0" rIns="0" bIns="0" rtlCol="0" anchor="t"/>
          <a:lstStyle/>
          <a:p>
            <a:pPr indent="0" marL="0">
              <a:buNone/>
            </a:pPr>
            <a:r>
              <a:rPr lang="en-US" sz="1100" dirty="0">
                <a:solidFill>
                  <a:schemeClr val="tx1"/>
                </a:solidFill>
              </a:rPr>
              <a:t>LogisticsException and 6 specific errors</a:t>
            </a:r>
            <a:endParaRPr lang="en-US" sz="1100" dirty="0"/>
          </a:p>
        </p:txBody>
      </p:sp>
      <p:sp>
        <p:nvSpPr>
          <p:cNvPr id="29" name="Card"/>
          <p:cNvSpPr/>
          <p:nvPr/>
        </p:nvSpPr>
        <p:spPr>
          <a:xfrm>
            <a:off x="6035040" y="4718304"/>
            <a:ext cx="1645920" cy="1371600"/>
          </a:xfrm>
          <a:prstGeom prst="rect">
            <a:avLst/>
          </a:prstGeom>
          <a:solidFill>
            <a:srgbClr val="FBE8C8"/>
          </a:solidFill>
          <a:ln/>
          <a:effectLst>
            <a:outerShdw sx="100000" sy="100000" kx="0" ky="0" algn="bl" rotWithShape="0" blurRad="101600" dist="25400" dir="5400000">
              <a:srgbClr val="000000">
                <a:alpha val="12000"/>
              </a:srgbClr>
            </a:outerShdw>
          </a:effectLst>
        </p:spPr>
      </p:sp>
      <p:sp>
        <p:nvSpPr>
          <p:cNvPr id="30" name="Text 28"/>
          <p:cNvSpPr txBox="1"/>
          <p:nvPr/>
        </p:nvSpPr>
        <p:spPr>
          <a:xfrm>
            <a:off x="6172200" y="4791456"/>
            <a:ext cx="1371600" cy="274320"/>
          </a:xfrm>
          <a:prstGeom prst="rect">
            <a:avLst/>
          </a:prstGeom>
          <a:noFill/>
          <a:ln/>
        </p:spPr>
        <p:txBody>
          <a:bodyPr wrap="square" lIns="0" tIns="0" rIns="0" bIns="0" rtlCol="0" anchor="ctr"/>
          <a:lstStyle/>
          <a:p>
            <a:pPr indent="0" marL="0">
              <a:buNone/>
            </a:pPr>
            <a:r>
              <a:rPr lang="en-US" sz="1400" b="1" dirty="0">
                <a:solidFill>
                  <a:schemeClr val="tx1"/>
                </a:solidFill>
              </a:rPr>
              <a:t>util</a:t>
            </a:r>
            <a:endParaRPr lang="en-US" sz="1400" dirty="0"/>
          </a:p>
        </p:txBody>
      </p:sp>
      <p:sp>
        <p:nvSpPr>
          <p:cNvPr id="31" name="Text 29"/>
          <p:cNvSpPr txBox="1"/>
          <p:nvPr/>
        </p:nvSpPr>
        <p:spPr>
          <a:xfrm>
            <a:off x="6172200" y="5084064"/>
            <a:ext cx="1371600" cy="932688"/>
          </a:xfrm>
          <a:prstGeom prst="rect">
            <a:avLst/>
          </a:prstGeom>
          <a:noFill/>
          <a:ln/>
        </p:spPr>
        <p:txBody>
          <a:bodyPr wrap="square" lIns="0" tIns="0" rIns="0" bIns="0" rtlCol="0" anchor="t"/>
          <a:lstStyle/>
          <a:p>
            <a:pPr indent="0" marL="0">
              <a:buNone/>
            </a:pPr>
            <a:r>
              <a:rPr lang="en-US" sz="1100" dirty="0">
                <a:solidFill>
                  <a:schemeClr val="tx1"/>
                </a:solidFill>
              </a:rPr>
              <a:t>Distance, Validator, IdGenerator, Table</a:t>
            </a:r>
            <a:endParaRPr lang="en-US" sz="1100" dirty="0"/>
          </a:p>
        </p:txBody>
      </p:sp>
      <p:sp>
        <p:nvSpPr>
          <p:cNvPr id="32" name="Text 30"/>
          <p:cNvSpPr txBox="1"/>
          <p:nvPr/>
        </p:nvSpPr>
        <p:spPr>
          <a:xfrm>
            <a:off x="8092440" y="1508760"/>
            <a:ext cx="3566160" cy="274320"/>
          </a:xfrm>
          <a:prstGeom prst="rect">
            <a:avLst/>
          </a:prstGeom>
          <a:noFill/>
          <a:ln/>
        </p:spPr>
        <p:txBody>
          <a:bodyPr wrap="square" lIns="0" tIns="0" rIns="0" bIns="0" rtlCol="0" anchor="ctr"/>
          <a:lstStyle/>
          <a:p>
            <a:pPr indent="0" marL="0">
              <a:buNone/>
            </a:pPr>
            <a:r>
              <a:rPr lang="en-US" sz="1600" b="1" dirty="0">
                <a:solidFill>
                  <a:schemeClr val="accent1"/>
                </a:solidFill>
              </a:rPr>
              <a:t>One front door</a:t>
            </a:r>
            <a:endParaRPr lang="en-US" sz="1600" dirty="0"/>
          </a:p>
        </p:txBody>
      </p:sp>
      <p:sp>
        <p:nvSpPr>
          <p:cNvPr id="33" name="Text 31"/>
          <p:cNvSpPr txBox="1"/>
          <p:nvPr/>
        </p:nvSpPr>
        <p:spPr>
          <a:xfrm>
            <a:off x="8092440" y="1801368"/>
            <a:ext cx="3566160" cy="777240"/>
          </a:xfrm>
          <a:prstGeom prst="rect">
            <a:avLst/>
          </a:prstGeom>
          <a:noFill/>
          <a:ln/>
        </p:spPr>
        <p:txBody>
          <a:bodyPr wrap="square" lIns="0" tIns="0" rIns="0" bIns="0" rtlCol="0" anchor="t"/>
          <a:lstStyle/>
          <a:p>
            <a:pPr indent="0" marL="0">
              <a:buNone/>
            </a:pPr>
            <a:r>
              <a:rPr lang="en-US" sz="1400" dirty="0">
                <a:solidFill>
                  <a:schemeClr val="tx1"/>
                </a:solidFill>
              </a:rPr>
              <a:t>The UI never touches a service directly, so rules can change without touching the screens.</a:t>
            </a:r>
            <a:endParaRPr lang="en-US" sz="1400" dirty="0"/>
          </a:p>
        </p:txBody>
      </p:sp>
      <p:sp>
        <p:nvSpPr>
          <p:cNvPr id="34" name="Text 32"/>
          <p:cNvSpPr txBox="1"/>
          <p:nvPr/>
        </p:nvSpPr>
        <p:spPr>
          <a:xfrm>
            <a:off x="8092440" y="2679192"/>
            <a:ext cx="3566160" cy="274320"/>
          </a:xfrm>
          <a:prstGeom prst="rect">
            <a:avLst/>
          </a:prstGeom>
          <a:noFill/>
          <a:ln/>
        </p:spPr>
        <p:txBody>
          <a:bodyPr wrap="square" lIns="0" tIns="0" rIns="0" bIns="0" rtlCol="0" anchor="ctr"/>
          <a:lstStyle/>
          <a:p>
            <a:pPr indent="0" marL="0">
              <a:buNone/>
            </a:pPr>
            <a:r>
              <a:rPr lang="en-US" sz="1600" b="1" dirty="0">
                <a:solidFill>
                  <a:schemeClr val="accent1"/>
                </a:solidFill>
              </a:rPr>
              <a:t>Rules plug in</a:t>
            </a:r>
            <a:endParaRPr lang="en-US" sz="1600" dirty="0"/>
          </a:p>
        </p:txBody>
      </p:sp>
      <p:sp>
        <p:nvSpPr>
          <p:cNvPr id="35" name="Text 33"/>
          <p:cNvSpPr txBox="1"/>
          <p:nvPr/>
        </p:nvSpPr>
        <p:spPr>
          <a:xfrm>
            <a:off x="8092440" y="2971800"/>
            <a:ext cx="3566160" cy="777240"/>
          </a:xfrm>
          <a:prstGeom prst="rect">
            <a:avLst/>
          </a:prstGeom>
          <a:noFill/>
          <a:ln/>
        </p:spPr>
        <p:txBody>
          <a:bodyPr wrap="square" lIns="0" tIns="0" rIns="0" bIns="0" rtlCol="0" anchor="t"/>
          <a:lstStyle/>
          <a:p>
            <a:pPr indent="0" marL="0">
              <a:buNone/>
            </a:pPr>
            <a:r>
              <a:rPr lang="en-US" sz="1400" dirty="0">
                <a:solidFill>
                  <a:schemeClr val="tx1"/>
                </a:solidFill>
              </a:rPr>
              <a:t>Strategies are handed to the manager through its constructor and can be swapped while it runs.</a:t>
            </a:r>
            <a:endParaRPr lang="en-US" sz="1400" dirty="0"/>
          </a:p>
        </p:txBody>
      </p:sp>
      <p:sp>
        <p:nvSpPr>
          <p:cNvPr id="36" name="Text 34"/>
          <p:cNvSpPr txBox="1"/>
          <p:nvPr/>
        </p:nvSpPr>
        <p:spPr>
          <a:xfrm>
            <a:off x="8092440" y="3849624"/>
            <a:ext cx="3566160" cy="274320"/>
          </a:xfrm>
          <a:prstGeom prst="rect">
            <a:avLst/>
          </a:prstGeom>
          <a:noFill/>
          <a:ln/>
        </p:spPr>
        <p:txBody>
          <a:bodyPr wrap="square" lIns="0" tIns="0" rIns="0" bIns="0" rtlCol="0" anchor="ctr"/>
          <a:lstStyle/>
          <a:p>
            <a:pPr indent="0" marL="0">
              <a:buNone/>
            </a:pPr>
            <a:r>
              <a:rPr lang="en-US" sz="1600" b="1" dirty="0">
                <a:solidFill>
                  <a:schemeClr val="accent1"/>
                </a:solidFill>
              </a:rPr>
              <a:t>Data stays separate</a:t>
            </a:r>
            <a:endParaRPr lang="en-US" sz="1600" dirty="0"/>
          </a:p>
        </p:txBody>
      </p:sp>
      <p:sp>
        <p:nvSpPr>
          <p:cNvPr id="37" name="Text 35"/>
          <p:cNvSpPr txBox="1"/>
          <p:nvPr/>
        </p:nvSpPr>
        <p:spPr>
          <a:xfrm>
            <a:off x="8092440" y="4142232"/>
            <a:ext cx="3566160" cy="777240"/>
          </a:xfrm>
          <a:prstGeom prst="rect">
            <a:avLst/>
          </a:prstGeom>
          <a:noFill/>
          <a:ln/>
        </p:spPr>
        <p:txBody>
          <a:bodyPr wrap="square" lIns="0" tIns="0" rIns="0" bIns="0" rtlCol="0" anchor="t"/>
          <a:lstStyle/>
          <a:p>
            <a:pPr indent="0" marL="0">
              <a:buNone/>
            </a:pPr>
            <a:r>
              <a:rPr lang="en-US" sz="1400" dirty="0">
                <a:solidFill>
                  <a:schemeClr val="tx1"/>
                </a:solidFill>
              </a:rPr>
              <a:t>Entities know nothing about files or screens. Saving and loading live in their own package.</a:t>
            </a:r>
            <a:endParaRPr lang="en-US" sz="1400" dirty="0"/>
          </a:p>
        </p:txBody>
      </p:sp>
      <p:sp>
        <p:nvSpPr>
          <p:cNvPr id="38" name="Text 36"/>
          <p:cNvSpPr txBox="1"/>
          <p:nvPr/>
        </p:nvSpPr>
        <p:spPr>
          <a:xfrm>
            <a:off x="8092440" y="5020056"/>
            <a:ext cx="3566160" cy="274320"/>
          </a:xfrm>
          <a:prstGeom prst="rect">
            <a:avLst/>
          </a:prstGeom>
          <a:noFill/>
          <a:ln/>
        </p:spPr>
        <p:txBody>
          <a:bodyPr wrap="square" lIns="0" tIns="0" rIns="0" bIns="0" rtlCol="0" anchor="ctr"/>
          <a:lstStyle/>
          <a:p>
            <a:pPr indent="0" marL="0">
              <a:buNone/>
            </a:pPr>
            <a:r>
              <a:rPr lang="en-US" sz="1600" b="1" dirty="0">
                <a:solidFill>
                  <a:schemeClr val="accent1"/>
                </a:solidFill>
              </a:rPr>
              <a:t>Plus a sim package</a:t>
            </a:r>
            <a:endParaRPr lang="en-US" sz="1600" dirty="0"/>
          </a:p>
        </p:txBody>
      </p:sp>
      <p:sp>
        <p:nvSpPr>
          <p:cNvPr id="39" name="Text 37"/>
          <p:cNvSpPr txBox="1"/>
          <p:nvPr/>
        </p:nvSpPr>
        <p:spPr>
          <a:xfrm>
            <a:off x="8092440" y="5312664"/>
            <a:ext cx="3566160" cy="777240"/>
          </a:xfrm>
          <a:prstGeom prst="rect">
            <a:avLst/>
          </a:prstGeom>
          <a:noFill/>
          <a:ln/>
        </p:spPr>
        <p:txBody>
          <a:bodyPr wrap="square" lIns="0" tIns="0" rIns="0" bIns="0" rtlCol="0" anchor="t"/>
          <a:lstStyle/>
          <a:p>
            <a:pPr indent="0" marL="0">
              <a:buNone/>
            </a:pPr>
            <a:r>
              <a:rPr lang="en-US" sz="1400" dirty="0">
                <a:solidFill>
                  <a:schemeClr val="tx1"/>
                </a:solidFill>
              </a:rPr>
              <a:t>It replays whole scenarios: the engine behind our 1,080 experiment runs.</a:t>
            </a:r>
            <a:endParaRPr lang="en-US" sz="1400" dirty="0"/>
          </a:p>
        </p:txBody>
      </p:sp>
      <p:sp>
        <p:nvSpPr>
          <p:cNvPr id="40" name="Source"/>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chemeClr val="accent5"/>
                </a:solidFill>
              </a:rPr>
              <a:t>Source: docs/design.md §1 · package com.dlscms with 9 sub-packages (model.vehicle counted separately)</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292608"/>
            <a:ext cx="100584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THE OOP TOOLKIT</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Eleven ideas, each with a job</a:t>
            </a:r>
            <a:endParaRPr lang="en-US" sz="3200" dirty="0"/>
          </a:p>
        </p:txBody>
      </p:sp>
      <p:sp>
        <p:nvSpPr>
          <p:cNvPr id="4" name="Card"/>
          <p:cNvSpPr/>
          <p:nvPr/>
        </p:nvSpPr>
        <p:spPr>
          <a:xfrm>
            <a:off x="548640" y="1481328"/>
            <a:ext cx="2679192" cy="1426464"/>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5" name="Text 3"/>
          <p:cNvSpPr txBox="1"/>
          <p:nvPr/>
        </p:nvSpPr>
        <p:spPr>
          <a:xfrm>
            <a:off x="685800" y="1554480"/>
            <a:ext cx="2404872" cy="274320"/>
          </a:xfrm>
          <a:prstGeom prst="rect">
            <a:avLst/>
          </a:prstGeom>
          <a:noFill/>
          <a:ln/>
        </p:spPr>
        <p:txBody>
          <a:bodyPr wrap="square" lIns="0" tIns="0" rIns="0" bIns="0" rtlCol="0" anchor="ctr"/>
          <a:lstStyle/>
          <a:p>
            <a:pPr indent="0" marL="0">
              <a:buNone/>
            </a:pPr>
            <a:r>
              <a:rPr lang="en-US" sz="1400" b="1" dirty="0">
                <a:solidFill>
                  <a:schemeClr val="accent1"/>
                </a:solidFill>
              </a:rPr>
              <a:t>Classes &amp; objects</a:t>
            </a:r>
            <a:endParaRPr lang="en-US" sz="1400" dirty="0"/>
          </a:p>
        </p:txBody>
      </p:sp>
      <p:sp>
        <p:nvSpPr>
          <p:cNvPr id="6" name="Text 4"/>
          <p:cNvSpPr txBox="1"/>
          <p:nvPr/>
        </p:nvSpPr>
        <p:spPr>
          <a:xfrm>
            <a:off x="685800" y="1847088"/>
            <a:ext cx="2404872" cy="457200"/>
          </a:xfrm>
          <a:prstGeom prst="rect">
            <a:avLst/>
          </a:prstGeom>
          <a:noFill/>
          <a:ln/>
        </p:spPr>
        <p:txBody>
          <a:bodyPr wrap="square" lIns="0" tIns="0" rIns="0" bIns="0" rtlCol="0" anchor="t"/>
          <a:lstStyle/>
          <a:p>
            <a:pPr indent="0" marL="0">
              <a:buNone/>
            </a:pPr>
            <a:r>
              <a:rPr lang="en-US" sz="1200" b="1" dirty="0">
                <a:solidFill>
                  <a:schemeClr val="tx1"/>
                </a:solidFill>
              </a:rPr>
              <a:t>A blueprint and the buildings made from it</a:t>
            </a:r>
            <a:endParaRPr lang="en-US" sz="1200" dirty="0"/>
          </a:p>
        </p:txBody>
      </p:sp>
      <p:sp>
        <p:nvSpPr>
          <p:cNvPr id="7" name="Text 5"/>
          <p:cNvSpPr txBox="1"/>
          <p:nvPr/>
        </p:nvSpPr>
        <p:spPr>
          <a:xfrm>
            <a:off x="685800" y="2322576"/>
            <a:ext cx="2404872" cy="548640"/>
          </a:xfrm>
          <a:prstGeom prst="rect">
            <a:avLst/>
          </a:prstGeom>
          <a:noFill/>
          <a:ln/>
        </p:spPr>
        <p:txBody>
          <a:bodyPr wrap="square" lIns="0" tIns="0" rIns="0" bIns="0" rtlCol="0" anchor="t"/>
          <a:lstStyle/>
          <a:p>
            <a:pPr indent="0" marL="0">
              <a:buNone/>
            </a:pPr>
            <a:r>
              <a:rPr lang="en-US" sz="1100" dirty="0">
                <a:solidFill>
                  <a:schemeClr val="accent5"/>
                </a:solidFill>
              </a:rPr>
              <a:t>Base, Supply, Vehicle, SupplyRequest, Delivery</a:t>
            </a:r>
            <a:endParaRPr lang="en-US" sz="1100" dirty="0"/>
          </a:p>
        </p:txBody>
      </p:sp>
      <p:sp>
        <p:nvSpPr>
          <p:cNvPr id="8" name="Card"/>
          <p:cNvSpPr/>
          <p:nvPr/>
        </p:nvSpPr>
        <p:spPr>
          <a:xfrm>
            <a:off x="3355848" y="1481328"/>
            <a:ext cx="2679192" cy="1426464"/>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9" name="Text 7"/>
          <p:cNvSpPr txBox="1"/>
          <p:nvPr/>
        </p:nvSpPr>
        <p:spPr>
          <a:xfrm>
            <a:off x="3493008" y="1554480"/>
            <a:ext cx="2404872" cy="274320"/>
          </a:xfrm>
          <a:prstGeom prst="rect">
            <a:avLst/>
          </a:prstGeom>
          <a:noFill/>
          <a:ln/>
        </p:spPr>
        <p:txBody>
          <a:bodyPr wrap="square" lIns="0" tIns="0" rIns="0" bIns="0" rtlCol="0" anchor="ctr"/>
          <a:lstStyle/>
          <a:p>
            <a:pPr indent="0" marL="0">
              <a:buNone/>
            </a:pPr>
            <a:r>
              <a:rPr lang="en-US" sz="1400" b="1" dirty="0">
                <a:solidFill>
                  <a:schemeClr val="accent1"/>
                </a:solidFill>
              </a:rPr>
              <a:t>Encapsulation</a:t>
            </a:r>
            <a:endParaRPr lang="en-US" sz="1400" dirty="0"/>
          </a:p>
        </p:txBody>
      </p:sp>
      <p:sp>
        <p:nvSpPr>
          <p:cNvPr id="10" name="Text 8"/>
          <p:cNvSpPr txBox="1"/>
          <p:nvPr/>
        </p:nvSpPr>
        <p:spPr>
          <a:xfrm>
            <a:off x="3493008" y="1847088"/>
            <a:ext cx="2404872" cy="457200"/>
          </a:xfrm>
          <a:prstGeom prst="rect">
            <a:avLst/>
          </a:prstGeom>
          <a:noFill/>
          <a:ln/>
        </p:spPr>
        <p:txBody>
          <a:bodyPr wrap="square" lIns="0" tIns="0" rIns="0" bIns="0" rtlCol="0" anchor="t"/>
          <a:lstStyle/>
          <a:p>
            <a:pPr indent="0" marL="0">
              <a:buNone/>
            </a:pPr>
            <a:r>
              <a:rPr lang="en-US" sz="1200" b="1" dirty="0">
                <a:solidFill>
                  <a:schemeClr val="tx1"/>
                </a:solidFill>
              </a:rPr>
              <a:t>A locked cabinet with a front desk</a:t>
            </a:r>
            <a:endParaRPr lang="en-US" sz="1200" dirty="0"/>
          </a:p>
        </p:txBody>
      </p:sp>
      <p:sp>
        <p:nvSpPr>
          <p:cNvPr id="11" name="Text 9"/>
          <p:cNvSpPr txBox="1"/>
          <p:nvPr/>
        </p:nvSpPr>
        <p:spPr>
          <a:xfrm>
            <a:off x="3493008" y="2322576"/>
            <a:ext cx="2404872" cy="548640"/>
          </a:xfrm>
          <a:prstGeom prst="rect">
            <a:avLst/>
          </a:prstGeom>
          <a:noFill/>
          <a:ln/>
        </p:spPr>
        <p:txBody>
          <a:bodyPr wrap="square" lIns="0" tIns="0" rIns="0" bIns="0" rtlCol="0" anchor="t"/>
          <a:lstStyle/>
          <a:p>
            <a:pPr indent="0" marL="0">
              <a:buNone/>
            </a:pPr>
            <a:r>
              <a:rPr lang="en-US" sz="1100" dirty="0">
                <a:solidFill>
                  <a:schemeClr val="accent5"/>
                </a:solidFill>
              </a:rPr>
              <a:t>Private fields and validated constructors</a:t>
            </a:r>
            <a:endParaRPr lang="en-US" sz="1100" dirty="0"/>
          </a:p>
        </p:txBody>
      </p:sp>
      <p:sp>
        <p:nvSpPr>
          <p:cNvPr id="12" name="Card"/>
          <p:cNvSpPr/>
          <p:nvPr/>
        </p:nvSpPr>
        <p:spPr>
          <a:xfrm>
            <a:off x="6163056" y="1481328"/>
            <a:ext cx="2679192" cy="1426464"/>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6300216" y="1554480"/>
            <a:ext cx="2404872" cy="274320"/>
          </a:xfrm>
          <a:prstGeom prst="rect">
            <a:avLst/>
          </a:prstGeom>
          <a:noFill/>
          <a:ln/>
        </p:spPr>
        <p:txBody>
          <a:bodyPr wrap="square" lIns="0" tIns="0" rIns="0" bIns="0" rtlCol="0" anchor="ctr"/>
          <a:lstStyle/>
          <a:p>
            <a:pPr indent="0" marL="0">
              <a:buNone/>
            </a:pPr>
            <a:r>
              <a:rPr lang="en-US" sz="1400" b="1" dirty="0">
                <a:solidFill>
                  <a:schemeClr val="accent1"/>
                </a:solidFill>
              </a:rPr>
              <a:t>Inheritance</a:t>
            </a:r>
            <a:endParaRPr lang="en-US" sz="1400" dirty="0"/>
          </a:p>
        </p:txBody>
      </p:sp>
      <p:sp>
        <p:nvSpPr>
          <p:cNvPr id="14" name="Text 12"/>
          <p:cNvSpPr txBox="1"/>
          <p:nvPr/>
        </p:nvSpPr>
        <p:spPr>
          <a:xfrm>
            <a:off x="6300216" y="1847088"/>
            <a:ext cx="2404872" cy="457200"/>
          </a:xfrm>
          <a:prstGeom prst="rect">
            <a:avLst/>
          </a:prstGeom>
          <a:noFill/>
          <a:ln/>
        </p:spPr>
        <p:txBody>
          <a:bodyPr wrap="square" lIns="0" tIns="0" rIns="0" bIns="0" rtlCol="0" anchor="t"/>
          <a:lstStyle/>
          <a:p>
            <a:pPr indent="0" marL="0">
              <a:buNone/>
            </a:pPr>
            <a:r>
              <a:rPr lang="en-US" sz="1200" b="1" dirty="0">
                <a:solidFill>
                  <a:schemeClr val="tx1"/>
                </a:solidFill>
              </a:rPr>
              <a:t>A family tree of vehicles</a:t>
            </a:r>
            <a:endParaRPr lang="en-US" sz="1200" dirty="0"/>
          </a:p>
        </p:txBody>
      </p:sp>
      <p:sp>
        <p:nvSpPr>
          <p:cNvPr id="15" name="Text 13"/>
          <p:cNvSpPr txBox="1"/>
          <p:nvPr/>
        </p:nvSpPr>
        <p:spPr>
          <a:xfrm>
            <a:off x="6300216" y="2322576"/>
            <a:ext cx="2404872" cy="548640"/>
          </a:xfrm>
          <a:prstGeom prst="rect">
            <a:avLst/>
          </a:prstGeom>
          <a:noFill/>
          <a:ln/>
        </p:spPr>
        <p:txBody>
          <a:bodyPr wrap="square" lIns="0" tIns="0" rIns="0" bIns="0" rtlCol="0" anchor="t"/>
          <a:lstStyle/>
          <a:p>
            <a:pPr indent="0" marL="0">
              <a:buNone/>
            </a:pPr>
            <a:r>
              <a:rPr lang="en-US" sz="1100" dirty="0">
                <a:solidFill>
                  <a:schemeClr val="accent5"/>
                </a:solidFill>
              </a:rPr>
              <a:t>Truck, FuelTruck, MedicalVan, Helicopter extend Vehicle</a:t>
            </a:r>
            <a:endParaRPr lang="en-US" sz="1100" dirty="0"/>
          </a:p>
        </p:txBody>
      </p:sp>
      <p:sp>
        <p:nvSpPr>
          <p:cNvPr id="16" name="Card"/>
          <p:cNvSpPr/>
          <p:nvPr/>
        </p:nvSpPr>
        <p:spPr>
          <a:xfrm>
            <a:off x="8970264" y="1481328"/>
            <a:ext cx="2679192" cy="1426464"/>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17" name="Text 15"/>
          <p:cNvSpPr txBox="1"/>
          <p:nvPr/>
        </p:nvSpPr>
        <p:spPr>
          <a:xfrm>
            <a:off x="9107424" y="1554480"/>
            <a:ext cx="2404872" cy="274320"/>
          </a:xfrm>
          <a:prstGeom prst="rect">
            <a:avLst/>
          </a:prstGeom>
          <a:noFill/>
          <a:ln/>
        </p:spPr>
        <p:txBody>
          <a:bodyPr wrap="square" lIns="0" tIns="0" rIns="0" bIns="0" rtlCol="0" anchor="ctr"/>
          <a:lstStyle/>
          <a:p>
            <a:pPr indent="0" marL="0">
              <a:buNone/>
            </a:pPr>
            <a:r>
              <a:rPr lang="en-US" sz="1400" b="1" dirty="0">
                <a:solidFill>
                  <a:schemeClr val="accent1"/>
                </a:solidFill>
              </a:rPr>
              <a:t>Polymorphism</a:t>
            </a:r>
            <a:endParaRPr lang="en-US" sz="1400" dirty="0"/>
          </a:p>
        </p:txBody>
      </p:sp>
      <p:sp>
        <p:nvSpPr>
          <p:cNvPr id="18" name="Text 16"/>
          <p:cNvSpPr txBox="1"/>
          <p:nvPr/>
        </p:nvSpPr>
        <p:spPr>
          <a:xfrm>
            <a:off x="9107424" y="1847088"/>
            <a:ext cx="2404872" cy="457200"/>
          </a:xfrm>
          <a:prstGeom prst="rect">
            <a:avLst/>
          </a:prstGeom>
          <a:noFill/>
          <a:ln/>
        </p:spPr>
        <p:txBody>
          <a:bodyPr wrap="square" lIns="0" tIns="0" rIns="0" bIns="0" rtlCol="0" anchor="t"/>
          <a:lstStyle/>
          <a:p>
            <a:pPr indent="0" marL="0">
              <a:buNone/>
            </a:pPr>
            <a:r>
              <a:rPr lang="en-US" sz="1200" b="1" dirty="0">
                <a:solidFill>
                  <a:schemeClr val="tx1"/>
                </a:solidFill>
              </a:rPr>
              <a:t>Same order, each vehicle does it its own way</a:t>
            </a:r>
            <a:endParaRPr lang="en-US" sz="1200" dirty="0"/>
          </a:p>
        </p:txBody>
      </p:sp>
      <p:sp>
        <p:nvSpPr>
          <p:cNvPr id="19" name="Text 17"/>
          <p:cNvSpPr txBox="1"/>
          <p:nvPr/>
        </p:nvSpPr>
        <p:spPr>
          <a:xfrm>
            <a:off x="9107424" y="2322576"/>
            <a:ext cx="2404872" cy="548640"/>
          </a:xfrm>
          <a:prstGeom prst="rect">
            <a:avLst/>
          </a:prstGeom>
          <a:noFill/>
          <a:ln/>
        </p:spPr>
        <p:txBody>
          <a:bodyPr wrap="square" lIns="0" tIns="0" rIns="0" bIns="0" rtlCol="0" anchor="t"/>
          <a:lstStyle/>
          <a:p>
            <a:pPr indent="0" marL="0">
              <a:buNone/>
            </a:pPr>
            <a:r>
              <a:rPr lang="en-US" sz="1100" dirty="0">
                <a:solidFill>
                  <a:schemeClr val="accent5"/>
                </a:solidFill>
              </a:rPr>
              <a:t>estimateHours() and capacity differ per vehicle</a:t>
            </a:r>
            <a:endParaRPr lang="en-US" sz="1100" dirty="0"/>
          </a:p>
        </p:txBody>
      </p:sp>
      <p:sp>
        <p:nvSpPr>
          <p:cNvPr id="20" name="Card"/>
          <p:cNvSpPr/>
          <p:nvPr/>
        </p:nvSpPr>
        <p:spPr>
          <a:xfrm>
            <a:off x="548640" y="3035808"/>
            <a:ext cx="2679192" cy="1426464"/>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21" name="Text 19"/>
          <p:cNvSpPr txBox="1"/>
          <p:nvPr/>
        </p:nvSpPr>
        <p:spPr>
          <a:xfrm>
            <a:off x="685800" y="3108960"/>
            <a:ext cx="2404872" cy="274320"/>
          </a:xfrm>
          <a:prstGeom prst="rect">
            <a:avLst/>
          </a:prstGeom>
          <a:noFill/>
          <a:ln/>
        </p:spPr>
        <p:txBody>
          <a:bodyPr wrap="square" lIns="0" tIns="0" rIns="0" bIns="0" rtlCol="0" anchor="ctr"/>
          <a:lstStyle/>
          <a:p>
            <a:pPr indent="0" marL="0">
              <a:buNone/>
            </a:pPr>
            <a:r>
              <a:rPr lang="en-US" sz="1400" b="1" dirty="0">
                <a:solidFill>
                  <a:schemeClr val="accent1"/>
                </a:solidFill>
              </a:rPr>
              <a:t>Abstraction</a:t>
            </a:r>
            <a:endParaRPr lang="en-US" sz="1400" dirty="0"/>
          </a:p>
        </p:txBody>
      </p:sp>
      <p:sp>
        <p:nvSpPr>
          <p:cNvPr id="22" name="Text 20"/>
          <p:cNvSpPr txBox="1"/>
          <p:nvPr/>
        </p:nvSpPr>
        <p:spPr>
          <a:xfrm>
            <a:off x="685800" y="3401568"/>
            <a:ext cx="2404872" cy="457200"/>
          </a:xfrm>
          <a:prstGeom prst="rect">
            <a:avLst/>
          </a:prstGeom>
          <a:noFill/>
          <a:ln/>
        </p:spPr>
        <p:txBody>
          <a:bodyPr wrap="square" lIns="0" tIns="0" rIns="0" bIns="0" rtlCol="0" anchor="t"/>
          <a:lstStyle/>
          <a:p>
            <a:pPr indent="0" marL="0">
              <a:buNone/>
            </a:pPr>
            <a:r>
              <a:rPr lang="en-US" sz="1200" b="1" dirty="0">
                <a:solidFill>
                  <a:schemeClr val="tx1"/>
                </a:solidFill>
              </a:rPr>
              <a:t>Ask for “a vehicle”, not a make</a:t>
            </a:r>
            <a:endParaRPr lang="en-US" sz="1200" dirty="0"/>
          </a:p>
        </p:txBody>
      </p:sp>
      <p:sp>
        <p:nvSpPr>
          <p:cNvPr id="23" name="Text 21"/>
          <p:cNvSpPr txBox="1"/>
          <p:nvPr/>
        </p:nvSpPr>
        <p:spPr>
          <a:xfrm>
            <a:off x="685800" y="3877056"/>
            <a:ext cx="2404872" cy="548640"/>
          </a:xfrm>
          <a:prstGeom prst="rect">
            <a:avLst/>
          </a:prstGeom>
          <a:noFill/>
          <a:ln/>
        </p:spPr>
        <p:txBody>
          <a:bodyPr wrap="square" lIns="0" tIns="0" rIns="0" bIns="0" rtlCol="0" anchor="t"/>
          <a:lstStyle/>
          <a:p>
            <a:pPr indent="0" marL="0">
              <a:buNone/>
            </a:pPr>
            <a:r>
              <a:rPr lang="en-US" sz="1100" dirty="0">
                <a:solidFill>
                  <a:schemeClr val="accent5"/>
                </a:solidFill>
              </a:rPr>
              <a:t>abstract Vehicle; strategy interfaces</a:t>
            </a:r>
            <a:endParaRPr lang="en-US" sz="1100" dirty="0"/>
          </a:p>
        </p:txBody>
      </p:sp>
      <p:sp>
        <p:nvSpPr>
          <p:cNvPr id="24" name="Card"/>
          <p:cNvSpPr/>
          <p:nvPr/>
        </p:nvSpPr>
        <p:spPr>
          <a:xfrm>
            <a:off x="3355848" y="3035808"/>
            <a:ext cx="2679192" cy="1426464"/>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3493008" y="3108960"/>
            <a:ext cx="2404872" cy="274320"/>
          </a:xfrm>
          <a:prstGeom prst="rect">
            <a:avLst/>
          </a:prstGeom>
          <a:noFill/>
          <a:ln/>
        </p:spPr>
        <p:txBody>
          <a:bodyPr wrap="square" lIns="0" tIns="0" rIns="0" bIns="0" rtlCol="0" anchor="ctr"/>
          <a:lstStyle/>
          <a:p>
            <a:pPr indent="0" marL="0">
              <a:buNone/>
            </a:pPr>
            <a:r>
              <a:rPr lang="en-US" sz="1400" b="1" dirty="0">
                <a:solidFill>
                  <a:schemeClr val="accent1"/>
                </a:solidFill>
              </a:rPr>
              <a:t>Interfaces</a:t>
            </a:r>
            <a:endParaRPr lang="en-US" sz="1400" dirty="0"/>
          </a:p>
        </p:txBody>
      </p:sp>
      <p:sp>
        <p:nvSpPr>
          <p:cNvPr id="26" name="Text 24"/>
          <p:cNvSpPr txBox="1"/>
          <p:nvPr/>
        </p:nvSpPr>
        <p:spPr>
          <a:xfrm>
            <a:off x="3493008" y="3401568"/>
            <a:ext cx="2404872" cy="457200"/>
          </a:xfrm>
          <a:prstGeom prst="rect">
            <a:avLst/>
          </a:prstGeom>
          <a:noFill/>
          <a:ln/>
        </p:spPr>
        <p:txBody>
          <a:bodyPr wrap="square" lIns="0" tIns="0" rIns="0" bIns="0" rtlCol="0" anchor="t"/>
          <a:lstStyle/>
          <a:p>
            <a:pPr indent="0" marL="0">
              <a:buNone/>
            </a:pPr>
            <a:r>
              <a:rPr lang="en-US" sz="1200" b="1" dirty="0">
                <a:solidFill>
                  <a:schemeClr val="tx1"/>
                </a:solidFill>
              </a:rPr>
              <a:t>A badge any role can wear</a:t>
            </a:r>
            <a:endParaRPr lang="en-US" sz="1200" dirty="0"/>
          </a:p>
        </p:txBody>
      </p:sp>
      <p:sp>
        <p:nvSpPr>
          <p:cNvPr id="27" name="Text 25"/>
          <p:cNvSpPr txBox="1"/>
          <p:nvPr/>
        </p:nvSpPr>
        <p:spPr>
          <a:xfrm>
            <a:off x="3493008" y="3877056"/>
            <a:ext cx="2404872" cy="548640"/>
          </a:xfrm>
          <a:prstGeom prst="rect">
            <a:avLst/>
          </a:prstGeom>
          <a:noFill/>
          <a:ln/>
        </p:spPr>
        <p:txBody>
          <a:bodyPr wrap="square" lIns="0" tIns="0" rIns="0" bIns="0" rtlCol="0" anchor="t"/>
          <a:lstStyle/>
          <a:p>
            <a:pPr indent="0" marL="0">
              <a:buNone/>
            </a:pPr>
            <a:r>
              <a:rPr lang="en-US" sz="1100" dirty="0">
                <a:solidFill>
                  <a:schemeClr val="accent5"/>
                </a:solidFill>
              </a:rPr>
              <a:t>Trackable, Deliverable, Persistable</a:t>
            </a:r>
            <a:endParaRPr lang="en-US" sz="1100" dirty="0"/>
          </a:p>
        </p:txBody>
      </p:sp>
      <p:sp>
        <p:nvSpPr>
          <p:cNvPr id="28" name="Card"/>
          <p:cNvSpPr/>
          <p:nvPr/>
        </p:nvSpPr>
        <p:spPr>
          <a:xfrm>
            <a:off x="6163056" y="3035808"/>
            <a:ext cx="2679192" cy="1426464"/>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29" name="Text 27"/>
          <p:cNvSpPr txBox="1"/>
          <p:nvPr/>
        </p:nvSpPr>
        <p:spPr>
          <a:xfrm>
            <a:off x="6300216" y="3108960"/>
            <a:ext cx="2404872" cy="274320"/>
          </a:xfrm>
          <a:prstGeom prst="rect">
            <a:avLst/>
          </a:prstGeom>
          <a:noFill/>
          <a:ln/>
        </p:spPr>
        <p:txBody>
          <a:bodyPr wrap="square" lIns="0" tIns="0" rIns="0" bIns="0" rtlCol="0" anchor="ctr"/>
          <a:lstStyle/>
          <a:p>
            <a:pPr indent="0" marL="0">
              <a:buNone/>
            </a:pPr>
            <a:r>
              <a:rPr lang="en-US" sz="1400" b="1" dirty="0">
                <a:solidFill>
                  <a:schemeClr val="accent1"/>
                </a:solidFill>
              </a:rPr>
              <a:t>Collections</a:t>
            </a:r>
            <a:endParaRPr lang="en-US" sz="1400" dirty="0"/>
          </a:p>
        </p:txBody>
      </p:sp>
      <p:sp>
        <p:nvSpPr>
          <p:cNvPr id="30" name="Text 28"/>
          <p:cNvSpPr txBox="1"/>
          <p:nvPr/>
        </p:nvSpPr>
        <p:spPr>
          <a:xfrm>
            <a:off x="6300216" y="3401568"/>
            <a:ext cx="2404872" cy="457200"/>
          </a:xfrm>
          <a:prstGeom prst="rect">
            <a:avLst/>
          </a:prstGeom>
          <a:noFill/>
          <a:ln/>
        </p:spPr>
        <p:txBody>
          <a:bodyPr wrap="square" lIns="0" tIns="0" rIns="0" bIns="0" rtlCol="0" anchor="t"/>
          <a:lstStyle/>
          <a:p>
            <a:pPr indent="0" marL="0">
              <a:buNone/>
            </a:pPr>
            <a:r>
              <a:rPr lang="en-US" sz="1200" b="1" dirty="0">
                <a:solidFill>
                  <a:schemeClr val="tx1"/>
                </a:solidFill>
              </a:rPr>
              <a:t>Shelves and lookup lists</a:t>
            </a:r>
            <a:endParaRPr lang="en-US" sz="1200" dirty="0"/>
          </a:p>
        </p:txBody>
      </p:sp>
      <p:sp>
        <p:nvSpPr>
          <p:cNvPr id="31" name="Text 29"/>
          <p:cNvSpPr txBox="1"/>
          <p:nvPr/>
        </p:nvSpPr>
        <p:spPr>
          <a:xfrm>
            <a:off x="6300216" y="3877056"/>
            <a:ext cx="2404872" cy="548640"/>
          </a:xfrm>
          <a:prstGeom prst="rect">
            <a:avLst/>
          </a:prstGeom>
          <a:noFill/>
          <a:ln/>
        </p:spPr>
        <p:txBody>
          <a:bodyPr wrap="square" lIns="0" tIns="0" rIns="0" bIns="0" rtlCol="0" anchor="t"/>
          <a:lstStyle/>
          <a:p>
            <a:pPr indent="0" marL="0">
              <a:buNone/>
            </a:pPr>
            <a:r>
              <a:rPr lang="en-US" sz="1100" dirty="0">
                <a:solidFill>
                  <a:schemeClr val="accent5"/>
                </a:solidFill>
              </a:rPr>
              <a:t>ArrayList and HashMap for stock, fleet, requests</a:t>
            </a:r>
            <a:endParaRPr lang="en-US" sz="1100" dirty="0"/>
          </a:p>
        </p:txBody>
      </p:sp>
      <p:sp>
        <p:nvSpPr>
          <p:cNvPr id="32" name="Card"/>
          <p:cNvSpPr/>
          <p:nvPr/>
        </p:nvSpPr>
        <p:spPr>
          <a:xfrm>
            <a:off x="8970264" y="3035808"/>
            <a:ext cx="2679192" cy="1426464"/>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33" name="Text 31"/>
          <p:cNvSpPr txBox="1"/>
          <p:nvPr/>
        </p:nvSpPr>
        <p:spPr>
          <a:xfrm>
            <a:off x="9107424" y="3108960"/>
            <a:ext cx="2404872" cy="274320"/>
          </a:xfrm>
          <a:prstGeom prst="rect">
            <a:avLst/>
          </a:prstGeom>
          <a:noFill/>
          <a:ln/>
        </p:spPr>
        <p:txBody>
          <a:bodyPr wrap="square" lIns="0" tIns="0" rIns="0" bIns="0" rtlCol="0" anchor="ctr"/>
          <a:lstStyle/>
          <a:p>
            <a:pPr indent="0" marL="0">
              <a:buNone/>
            </a:pPr>
            <a:r>
              <a:rPr lang="en-US" sz="1400" b="1" dirty="0">
                <a:solidFill>
                  <a:schemeClr val="accent1"/>
                </a:solidFill>
              </a:rPr>
              <a:t>Exceptions</a:t>
            </a:r>
            <a:endParaRPr lang="en-US" sz="1400" dirty="0"/>
          </a:p>
        </p:txBody>
      </p:sp>
      <p:sp>
        <p:nvSpPr>
          <p:cNvPr id="34" name="Text 32"/>
          <p:cNvSpPr txBox="1"/>
          <p:nvPr/>
        </p:nvSpPr>
        <p:spPr>
          <a:xfrm>
            <a:off x="9107424" y="3401568"/>
            <a:ext cx="2404872" cy="457200"/>
          </a:xfrm>
          <a:prstGeom prst="rect">
            <a:avLst/>
          </a:prstGeom>
          <a:noFill/>
          <a:ln/>
        </p:spPr>
        <p:txBody>
          <a:bodyPr wrap="square" lIns="0" tIns="0" rIns="0" bIns="0" rtlCol="0" anchor="t"/>
          <a:lstStyle/>
          <a:p>
            <a:pPr indent="0" marL="0">
              <a:buNone/>
            </a:pPr>
            <a:r>
              <a:rPr lang="en-US" sz="1200" b="1" dirty="0">
                <a:solidFill>
                  <a:schemeClr val="tx1"/>
                </a:solidFill>
              </a:rPr>
              <a:t>A smoke alarm, not a crash</a:t>
            </a:r>
            <a:endParaRPr lang="en-US" sz="1200" dirty="0"/>
          </a:p>
        </p:txBody>
      </p:sp>
      <p:sp>
        <p:nvSpPr>
          <p:cNvPr id="35" name="Text 33"/>
          <p:cNvSpPr txBox="1"/>
          <p:nvPr/>
        </p:nvSpPr>
        <p:spPr>
          <a:xfrm>
            <a:off x="9107424" y="3877056"/>
            <a:ext cx="2404872" cy="548640"/>
          </a:xfrm>
          <a:prstGeom prst="rect">
            <a:avLst/>
          </a:prstGeom>
          <a:noFill/>
          <a:ln/>
        </p:spPr>
        <p:txBody>
          <a:bodyPr wrap="square" lIns="0" tIns="0" rIns="0" bIns="0" rtlCol="0" anchor="t"/>
          <a:lstStyle/>
          <a:p>
            <a:pPr indent="0" marL="0">
              <a:buNone/>
            </a:pPr>
            <a:r>
              <a:rPr lang="en-US" sz="1100" dirty="0">
                <a:solidFill>
                  <a:schemeClr val="accent5"/>
                </a:solidFill>
              </a:rPr>
              <a:t>LogisticsException and 6 specific errors, shown not thrown at the user</a:t>
            </a:r>
            <a:endParaRPr lang="en-US" sz="1100" dirty="0"/>
          </a:p>
        </p:txBody>
      </p:sp>
      <p:sp>
        <p:nvSpPr>
          <p:cNvPr id="36" name="Card"/>
          <p:cNvSpPr/>
          <p:nvPr/>
        </p:nvSpPr>
        <p:spPr>
          <a:xfrm>
            <a:off x="548640" y="4590288"/>
            <a:ext cx="2679192" cy="1426464"/>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37" name="Text 35"/>
          <p:cNvSpPr txBox="1"/>
          <p:nvPr/>
        </p:nvSpPr>
        <p:spPr>
          <a:xfrm>
            <a:off x="685800" y="4663440"/>
            <a:ext cx="2404872" cy="274320"/>
          </a:xfrm>
          <a:prstGeom prst="rect">
            <a:avLst/>
          </a:prstGeom>
          <a:noFill/>
          <a:ln/>
        </p:spPr>
        <p:txBody>
          <a:bodyPr wrap="square" lIns="0" tIns="0" rIns="0" bIns="0" rtlCol="0" anchor="ctr"/>
          <a:lstStyle/>
          <a:p>
            <a:pPr indent="0" marL="0">
              <a:buNone/>
            </a:pPr>
            <a:r>
              <a:rPr lang="en-US" sz="1400" b="1" dirty="0">
                <a:solidFill>
                  <a:schemeClr val="accent1"/>
                </a:solidFill>
              </a:rPr>
              <a:t>File handling</a:t>
            </a:r>
            <a:endParaRPr lang="en-US" sz="1400" dirty="0"/>
          </a:p>
        </p:txBody>
      </p:sp>
      <p:sp>
        <p:nvSpPr>
          <p:cNvPr id="38" name="Text 36"/>
          <p:cNvSpPr txBox="1"/>
          <p:nvPr/>
        </p:nvSpPr>
        <p:spPr>
          <a:xfrm>
            <a:off x="685800" y="4956048"/>
            <a:ext cx="2404872" cy="457200"/>
          </a:xfrm>
          <a:prstGeom prst="rect">
            <a:avLst/>
          </a:prstGeom>
          <a:noFill/>
          <a:ln/>
        </p:spPr>
        <p:txBody>
          <a:bodyPr wrap="square" lIns="0" tIns="0" rIns="0" bIns="0" rtlCol="0" anchor="t"/>
          <a:lstStyle/>
          <a:p>
            <a:pPr indent="0" marL="0">
              <a:buNone/>
            </a:pPr>
            <a:r>
              <a:rPr lang="en-US" sz="1200" b="1" dirty="0">
                <a:solidFill>
                  <a:schemeClr val="tx1"/>
                </a:solidFill>
              </a:rPr>
              <a:t>A save game</a:t>
            </a:r>
            <a:endParaRPr lang="en-US" sz="1200" dirty="0"/>
          </a:p>
        </p:txBody>
      </p:sp>
      <p:sp>
        <p:nvSpPr>
          <p:cNvPr id="39" name="Text 37"/>
          <p:cNvSpPr txBox="1"/>
          <p:nvPr/>
        </p:nvSpPr>
        <p:spPr>
          <a:xfrm>
            <a:off x="685800" y="5431536"/>
            <a:ext cx="2404872" cy="548640"/>
          </a:xfrm>
          <a:prstGeom prst="rect">
            <a:avLst/>
          </a:prstGeom>
          <a:noFill/>
          <a:ln/>
        </p:spPr>
        <p:txBody>
          <a:bodyPr wrap="square" lIns="0" tIns="0" rIns="0" bIns="0" rtlCol="0" anchor="t"/>
          <a:lstStyle/>
          <a:p>
            <a:pPr indent="0" marL="0">
              <a:buNone/>
            </a:pPr>
            <a:r>
              <a:rPr lang="en-US" sz="1100" dirty="0">
                <a:solidFill>
                  <a:schemeClr val="accent5"/>
                </a:solidFill>
              </a:rPr>
              <a:t>CSV save and load with java.io and NIO</a:t>
            </a:r>
            <a:endParaRPr lang="en-US" sz="1100" dirty="0"/>
          </a:p>
        </p:txBody>
      </p:sp>
      <p:sp>
        <p:nvSpPr>
          <p:cNvPr id="40" name="Card"/>
          <p:cNvSpPr/>
          <p:nvPr/>
        </p:nvSpPr>
        <p:spPr>
          <a:xfrm>
            <a:off x="3355848" y="4590288"/>
            <a:ext cx="2679192" cy="1426464"/>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41" name="Text 39"/>
          <p:cNvSpPr txBox="1"/>
          <p:nvPr/>
        </p:nvSpPr>
        <p:spPr>
          <a:xfrm>
            <a:off x="3493008" y="4663440"/>
            <a:ext cx="2404872" cy="274320"/>
          </a:xfrm>
          <a:prstGeom prst="rect">
            <a:avLst/>
          </a:prstGeom>
          <a:noFill/>
          <a:ln/>
        </p:spPr>
        <p:txBody>
          <a:bodyPr wrap="square" lIns="0" tIns="0" rIns="0" bIns="0" rtlCol="0" anchor="ctr"/>
          <a:lstStyle/>
          <a:p>
            <a:pPr indent="0" marL="0">
              <a:buNone/>
            </a:pPr>
            <a:r>
              <a:rPr lang="en-US" sz="1400" b="1" dirty="0">
                <a:solidFill>
                  <a:schemeClr val="accent1"/>
                </a:solidFill>
              </a:rPr>
              <a:t>Generics</a:t>
            </a:r>
            <a:endParaRPr lang="en-US" sz="1400" dirty="0"/>
          </a:p>
        </p:txBody>
      </p:sp>
      <p:sp>
        <p:nvSpPr>
          <p:cNvPr id="42" name="Text 40"/>
          <p:cNvSpPr txBox="1"/>
          <p:nvPr/>
        </p:nvSpPr>
        <p:spPr>
          <a:xfrm>
            <a:off x="3493008" y="4956048"/>
            <a:ext cx="2404872" cy="457200"/>
          </a:xfrm>
          <a:prstGeom prst="rect">
            <a:avLst/>
          </a:prstGeom>
          <a:noFill/>
          <a:ln/>
        </p:spPr>
        <p:txBody>
          <a:bodyPr wrap="square" lIns="0" tIns="0" rIns="0" bIns="0" rtlCol="0" anchor="t"/>
          <a:lstStyle/>
          <a:p>
            <a:pPr indent="0" marL="0">
              <a:buNone/>
            </a:pPr>
            <a:r>
              <a:rPr lang="en-US" sz="1200" b="1" dirty="0">
                <a:solidFill>
                  <a:schemeClr val="tx1"/>
                </a:solidFill>
              </a:rPr>
              <a:t>A box labelled for what is inside</a:t>
            </a:r>
            <a:endParaRPr lang="en-US" sz="1200" dirty="0"/>
          </a:p>
        </p:txBody>
      </p:sp>
      <p:sp>
        <p:nvSpPr>
          <p:cNvPr id="43" name="Text 41"/>
          <p:cNvSpPr txBox="1"/>
          <p:nvPr/>
        </p:nvSpPr>
        <p:spPr>
          <a:xfrm>
            <a:off x="3493008" y="5431536"/>
            <a:ext cx="2404872" cy="548640"/>
          </a:xfrm>
          <a:prstGeom prst="rect">
            <a:avLst/>
          </a:prstGeom>
          <a:noFill/>
          <a:ln/>
        </p:spPr>
        <p:txBody>
          <a:bodyPr wrap="square" lIns="0" tIns="0" rIns="0" bIns="0" rtlCol="0" anchor="t"/>
          <a:lstStyle/>
          <a:p>
            <a:pPr indent="0" marL="0">
              <a:buNone/>
            </a:pPr>
            <a:r>
              <a:rPr lang="en-US" sz="1100" dirty="0">
                <a:solidFill>
                  <a:schemeClr val="accent5"/>
                </a:solidFill>
              </a:rPr>
              <a:t>CsvRepository&lt;T&gt;, Registry&lt;T&gt;</a:t>
            </a:r>
            <a:endParaRPr lang="en-US" sz="1100" dirty="0"/>
          </a:p>
        </p:txBody>
      </p:sp>
      <p:sp>
        <p:nvSpPr>
          <p:cNvPr id="44" name="Card"/>
          <p:cNvSpPr/>
          <p:nvPr/>
        </p:nvSpPr>
        <p:spPr>
          <a:xfrm>
            <a:off x="6163056" y="4590288"/>
            <a:ext cx="2679192" cy="1426464"/>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45" name="Text 43"/>
          <p:cNvSpPr txBox="1"/>
          <p:nvPr/>
        </p:nvSpPr>
        <p:spPr>
          <a:xfrm>
            <a:off x="6300216" y="4663440"/>
            <a:ext cx="2404872" cy="274320"/>
          </a:xfrm>
          <a:prstGeom prst="rect">
            <a:avLst/>
          </a:prstGeom>
          <a:noFill/>
          <a:ln/>
        </p:spPr>
        <p:txBody>
          <a:bodyPr wrap="square" lIns="0" tIns="0" rIns="0" bIns="0" rtlCol="0" anchor="ctr"/>
          <a:lstStyle/>
          <a:p>
            <a:pPr indent="0" marL="0">
              <a:buNone/>
            </a:pPr>
            <a:r>
              <a:rPr lang="en-US" sz="1400" b="1" dirty="0">
                <a:solidFill>
                  <a:schemeClr val="accent1"/>
                </a:solidFill>
              </a:rPr>
              <a:t>Packages</a:t>
            </a:r>
            <a:endParaRPr lang="en-US" sz="1400" dirty="0"/>
          </a:p>
        </p:txBody>
      </p:sp>
      <p:sp>
        <p:nvSpPr>
          <p:cNvPr id="46" name="Text 44"/>
          <p:cNvSpPr txBox="1"/>
          <p:nvPr/>
        </p:nvSpPr>
        <p:spPr>
          <a:xfrm>
            <a:off x="6300216" y="4956048"/>
            <a:ext cx="2404872" cy="457200"/>
          </a:xfrm>
          <a:prstGeom prst="rect">
            <a:avLst/>
          </a:prstGeom>
          <a:noFill/>
          <a:ln/>
        </p:spPr>
        <p:txBody>
          <a:bodyPr wrap="square" lIns="0" tIns="0" rIns="0" bIns="0" rtlCol="0" anchor="t"/>
          <a:lstStyle/>
          <a:p>
            <a:pPr indent="0" marL="0">
              <a:buNone/>
            </a:pPr>
            <a:r>
              <a:rPr lang="en-US" sz="1200" b="1" dirty="0">
                <a:solidFill>
                  <a:schemeClr val="tx1"/>
                </a:solidFill>
              </a:rPr>
              <a:t>Departments of one company</a:t>
            </a:r>
            <a:endParaRPr lang="en-US" sz="1200" dirty="0"/>
          </a:p>
        </p:txBody>
      </p:sp>
      <p:sp>
        <p:nvSpPr>
          <p:cNvPr id="47" name="Text 45"/>
          <p:cNvSpPr txBox="1"/>
          <p:nvPr/>
        </p:nvSpPr>
        <p:spPr>
          <a:xfrm>
            <a:off x="6300216" y="5431536"/>
            <a:ext cx="2404872" cy="548640"/>
          </a:xfrm>
          <a:prstGeom prst="rect">
            <a:avLst/>
          </a:prstGeom>
          <a:noFill/>
          <a:ln/>
        </p:spPr>
        <p:txBody>
          <a:bodyPr wrap="square" lIns="0" tIns="0" rIns="0" bIns="0" rtlCol="0" anchor="t"/>
          <a:lstStyle/>
          <a:p>
            <a:pPr indent="0" marL="0">
              <a:buNone/>
            </a:pPr>
            <a:r>
              <a:rPr lang="en-US" sz="1100" dirty="0">
                <a:solidFill>
                  <a:schemeClr val="accent5"/>
                </a:solidFill>
              </a:rPr>
              <a:t>com.dlscms with 9 sub-packages</a:t>
            </a:r>
            <a:endParaRPr lang="en-US" sz="1100" dirty="0"/>
          </a:p>
        </p:txBody>
      </p:sp>
      <p:sp>
        <p:nvSpPr>
          <p:cNvPr id="48" name="Card"/>
          <p:cNvSpPr/>
          <p:nvPr/>
        </p:nvSpPr>
        <p:spPr>
          <a:xfrm>
            <a:off x="8970264" y="4590288"/>
            <a:ext cx="2679192" cy="1426464"/>
          </a:xfrm>
          <a:prstGeom prst="rect">
            <a:avLst/>
          </a:prstGeom>
          <a:solidFill>
            <a:schemeClr val="tx1"/>
          </a:solidFill>
          <a:ln/>
          <a:effectLst>
            <a:outerShdw sx="100000" sy="100000" kx="0" ky="0" algn="bl" rotWithShape="0" blurRad="101600" dist="25400" dir="5400000">
              <a:srgbClr val="000000">
                <a:alpha val="12000"/>
              </a:srgbClr>
            </a:outerShdw>
          </a:effectLst>
        </p:spPr>
      </p:sp>
      <p:sp>
        <p:nvSpPr>
          <p:cNvPr id="49" name="Text 47"/>
          <p:cNvSpPr txBox="1"/>
          <p:nvPr/>
        </p:nvSpPr>
        <p:spPr>
          <a:xfrm>
            <a:off x="9107424" y="4663440"/>
            <a:ext cx="2404872" cy="274320"/>
          </a:xfrm>
          <a:prstGeom prst="rect">
            <a:avLst/>
          </a:prstGeom>
          <a:noFill/>
          <a:ln/>
        </p:spPr>
        <p:txBody>
          <a:bodyPr wrap="square" lIns="0" tIns="0" rIns="0" bIns="0" rtlCol="0" anchor="ctr"/>
          <a:lstStyle/>
          <a:p>
            <a:pPr indent="0" marL="0">
              <a:buNone/>
            </a:pPr>
            <a:r>
              <a:rPr lang="en-US" sz="1400" b="1" dirty="0">
                <a:solidFill>
                  <a:schemeClr val="accent2"/>
                </a:solidFill>
              </a:rPr>
              <a:t>Design patterns</a:t>
            </a:r>
            <a:endParaRPr lang="en-US" sz="1400" dirty="0"/>
          </a:p>
        </p:txBody>
      </p:sp>
      <p:sp>
        <p:nvSpPr>
          <p:cNvPr id="50" name="Text 48"/>
          <p:cNvSpPr txBox="1"/>
          <p:nvPr/>
        </p:nvSpPr>
        <p:spPr>
          <a:xfrm>
            <a:off x="9107424" y="4956048"/>
            <a:ext cx="2404872" cy="457200"/>
          </a:xfrm>
          <a:prstGeom prst="rect">
            <a:avLst/>
          </a:prstGeom>
          <a:noFill/>
          <a:ln/>
        </p:spPr>
        <p:txBody>
          <a:bodyPr wrap="square" lIns="0" tIns="0" rIns="0" bIns="0" rtlCol="0" anchor="t"/>
          <a:lstStyle/>
          <a:p>
            <a:pPr indent="0" marL="0">
              <a:buNone/>
            </a:pPr>
            <a:r>
              <a:rPr lang="en-US" sz="1200" b="1" dirty="0">
                <a:solidFill>
                  <a:schemeClr val="bg1"/>
                </a:solidFill>
              </a:rPr>
              <a:t>Proven recipes</a:t>
            </a:r>
            <a:endParaRPr lang="en-US" sz="1200" dirty="0"/>
          </a:p>
        </p:txBody>
      </p:sp>
      <p:sp>
        <p:nvSpPr>
          <p:cNvPr id="51" name="Text 49"/>
          <p:cNvSpPr txBox="1"/>
          <p:nvPr/>
        </p:nvSpPr>
        <p:spPr>
          <a:xfrm>
            <a:off x="9107424" y="5431536"/>
            <a:ext cx="2404872" cy="548640"/>
          </a:xfrm>
          <a:prstGeom prst="rect">
            <a:avLst/>
          </a:prstGeom>
          <a:noFill/>
          <a:ln/>
        </p:spPr>
        <p:txBody>
          <a:bodyPr wrap="square" lIns="0" tIns="0" rIns="0" bIns="0" rtlCol="0" anchor="t"/>
          <a:lstStyle/>
          <a:p>
            <a:pPr indent="0" marL="0">
              <a:buNone/>
            </a:pPr>
            <a:r>
              <a:rPr lang="en-US" sz="1100" dirty="0">
                <a:solidFill>
                  <a:srgbClr val="C9D3E3"/>
                </a:solidFill>
              </a:rPr>
              <a:t>Facade, Strategy, template method, injection</a:t>
            </a:r>
            <a:endParaRPr lang="en-US" sz="1100" dirty="0"/>
          </a:p>
        </p:txBody>
      </p:sp>
      <p:sp>
        <p:nvSpPr>
          <p:cNvPr id="52" name="Source"/>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chemeClr val="accent5"/>
                </a:solidFill>
              </a:rPr>
              <a:t>Written in plain Java 17 with no libraries · Source: docs/requirements.md traceability matrix (O1 to O11)</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292608"/>
            <a:ext cx="100584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THE BLUEPRINT</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UML class diagrams</a:t>
            </a:r>
            <a:endParaRPr lang="en-US" sz="3200" dirty="0"/>
          </a:p>
        </p:txBody>
      </p:sp>
      <p:sp>
        <p:nvSpPr>
          <p:cNvPr id="4" name="Card"/>
          <p:cNvSpPr/>
          <p:nvPr/>
        </p:nvSpPr>
        <p:spPr>
          <a:xfrm>
            <a:off x="548640" y="1481328"/>
            <a:ext cx="3611880" cy="4663440"/>
          </a:xfrm>
          <a:prstGeom prst="rect">
            <a:avLst/>
          </a:prstGeom>
          <a:solidFill>
            <a:schemeClr val="bg1"/>
          </a:solidFill>
          <a:ln/>
          <a:effectLst>
            <a:outerShdw sx="100000" sy="100000" kx="0" ky="0" algn="bl" rotWithShape="0" blurRad="101600" dist="25400" dir="5400000">
              <a:srgbClr val="000000">
                <a:alpha val="12000"/>
              </a:srgbClr>
            </a:outerShdw>
          </a:effectLst>
        </p:spPr>
      </p:sp>
      <p:pic>
        <p:nvPicPr>
          <p:cNvPr id="5" name="Image 0" descr="UML class diagram of the domain model: Vehicle hierarchy, Base, Supply, SupplyRequest, Delivery and the three interfaces">    </p:cNvPr>
          <p:cNvPicPr>
            <a:picLocks noChangeAspect="1"/>
          </p:cNvPicPr>
          <p:nvPr/>
        </p:nvPicPr>
        <p:blipFill>
          <a:blip r:embed="rId1"/>
          <a:srcRect l="0" r="0" t="-719" b="-719"/>
          <a:stretch/>
        </p:blipFill>
        <p:spPr>
          <a:xfrm>
            <a:off x="640080" y="1554480"/>
            <a:ext cx="3429000" cy="4517136"/>
          </a:xfrm>
          <a:prstGeom prst="rect">
            <a:avLst/>
          </a:prstGeom>
        </p:spPr>
      </p:pic>
      <p:sp>
        <p:nvSpPr>
          <p:cNvPr id="6" name="Text 3"/>
          <p:cNvSpPr txBox="1"/>
          <p:nvPr/>
        </p:nvSpPr>
        <p:spPr>
          <a:xfrm>
            <a:off x="640080" y="5852160"/>
            <a:ext cx="3429000" cy="256032"/>
          </a:xfrm>
          <a:prstGeom prst="rect">
            <a:avLst/>
          </a:prstGeom>
          <a:noFill/>
          <a:ln/>
        </p:spPr>
        <p:txBody>
          <a:bodyPr wrap="square" lIns="0" tIns="0" rIns="0" bIns="0" rtlCol="0" anchor="ctr"/>
          <a:lstStyle/>
          <a:p>
            <a:pPr algn="ctr" indent="0" marL="0">
              <a:buNone/>
            </a:pPr>
            <a:r>
              <a:rPr lang="en-US" sz="1200" i="1" dirty="0">
                <a:solidFill>
                  <a:schemeClr val="accent5"/>
                </a:solidFill>
              </a:rPr>
              <a:t>Domain model</a:t>
            </a:r>
            <a:endParaRPr lang="en-US" sz="1200" dirty="0"/>
          </a:p>
        </p:txBody>
      </p:sp>
      <p:sp>
        <p:nvSpPr>
          <p:cNvPr id="7" name="Card"/>
          <p:cNvSpPr/>
          <p:nvPr/>
        </p:nvSpPr>
        <p:spPr>
          <a:xfrm>
            <a:off x="4343400" y="1481328"/>
            <a:ext cx="5257800" cy="4663440"/>
          </a:xfrm>
          <a:prstGeom prst="rect">
            <a:avLst/>
          </a:prstGeom>
          <a:solidFill>
            <a:schemeClr val="bg1"/>
          </a:solidFill>
          <a:ln/>
          <a:effectLst>
            <a:outerShdw sx="100000" sy="100000" kx="0" ky="0" algn="bl" rotWithShape="0" blurRad="101600" dist="25400" dir="5400000">
              <a:srgbClr val="000000">
                <a:alpha val="12000"/>
              </a:srgbClr>
            </a:outerShdw>
          </a:effectLst>
        </p:spPr>
      </p:sp>
      <p:pic>
        <p:nvPicPr>
          <p:cNvPr id="8" name="Image 1" descr="UML class diagram of the services, strategies and the LogisticsManager facade">    </p:cNvPr>
          <p:cNvPicPr>
            <a:picLocks noChangeAspect="1"/>
          </p:cNvPicPr>
          <p:nvPr/>
        </p:nvPicPr>
        <p:blipFill>
          <a:blip r:embed="rId2"/>
          <a:stretch>
            <a:fillRect/>
          </a:stretch>
        </p:blipFill>
        <p:spPr>
          <a:xfrm>
            <a:off x="4434840" y="1783080"/>
            <a:ext cx="5074920" cy="3865133"/>
          </a:xfrm>
          <a:prstGeom prst="rect">
            <a:avLst/>
          </a:prstGeom>
        </p:spPr>
      </p:pic>
      <p:sp>
        <p:nvSpPr>
          <p:cNvPr id="9" name="Text 5"/>
          <p:cNvSpPr txBox="1"/>
          <p:nvPr/>
        </p:nvSpPr>
        <p:spPr>
          <a:xfrm>
            <a:off x="4434840" y="5852160"/>
            <a:ext cx="5074920" cy="256032"/>
          </a:xfrm>
          <a:prstGeom prst="rect">
            <a:avLst/>
          </a:prstGeom>
          <a:noFill/>
          <a:ln/>
        </p:spPr>
        <p:txBody>
          <a:bodyPr wrap="square" lIns="0" tIns="0" rIns="0" bIns="0" rtlCol="0" anchor="ctr"/>
          <a:lstStyle/>
          <a:p>
            <a:pPr algn="ctr" indent="0" marL="0">
              <a:buNone/>
            </a:pPr>
            <a:r>
              <a:rPr lang="en-US" sz="1200" i="1" dirty="0">
                <a:solidFill>
                  <a:schemeClr val="accent5"/>
                </a:solidFill>
              </a:rPr>
              <a:t>Services, strategies and the facade</a:t>
            </a:r>
            <a:endParaRPr lang="en-US" sz="1200" dirty="0"/>
          </a:p>
        </p:txBody>
      </p:sp>
      <p:sp>
        <p:nvSpPr>
          <p:cNvPr id="10" name="Text 6"/>
          <p:cNvSpPr txBox="1"/>
          <p:nvPr/>
        </p:nvSpPr>
        <p:spPr>
          <a:xfrm>
            <a:off x="9784080" y="1481328"/>
            <a:ext cx="1856232" cy="274320"/>
          </a:xfrm>
          <a:prstGeom prst="rect">
            <a:avLst/>
          </a:prstGeom>
          <a:noFill/>
          <a:ln/>
        </p:spPr>
        <p:txBody>
          <a:bodyPr wrap="square" lIns="0" tIns="0" rIns="0" bIns="0" rtlCol="0" anchor="ctr"/>
          <a:lstStyle/>
          <a:p>
            <a:pPr indent="0" marL="0">
              <a:buNone/>
            </a:pPr>
            <a:r>
              <a:rPr lang="en-US" sz="1400" b="1" dirty="0">
                <a:solidFill>
                  <a:schemeClr val="accent1"/>
                </a:solidFill>
              </a:rPr>
              <a:t>Read it like this</a:t>
            </a:r>
            <a:endParaRPr lang="en-US" sz="1400" dirty="0"/>
          </a:p>
        </p:txBody>
      </p:sp>
      <p:sp>
        <p:nvSpPr>
          <p:cNvPr id="11" name="Text 7"/>
          <p:cNvSpPr txBox="1"/>
          <p:nvPr/>
        </p:nvSpPr>
        <p:spPr>
          <a:xfrm>
            <a:off x="9784080" y="1773936"/>
            <a:ext cx="1856232" cy="1188720"/>
          </a:xfrm>
          <a:prstGeom prst="rect">
            <a:avLst/>
          </a:prstGeom>
          <a:noFill/>
          <a:ln/>
        </p:spPr>
        <p:txBody>
          <a:bodyPr wrap="square" lIns="0" tIns="0" rIns="0" bIns="0" rtlCol="0" anchor="t"/>
          <a:lstStyle/>
          <a:p>
            <a:pPr indent="0" marL="0">
              <a:buNone/>
            </a:pPr>
            <a:r>
              <a:rPr lang="en-US" sz="1200" dirty="0">
                <a:solidFill>
                  <a:schemeClr val="tx1"/>
                </a:solidFill>
              </a:rPr>
              <a:t>Dashed arrows with hollow heads: a class wears an interface. Solid hollow heads: a subclass.</a:t>
            </a:r>
            <a:endParaRPr lang="en-US" sz="1200" dirty="0"/>
          </a:p>
        </p:txBody>
      </p:sp>
      <p:sp>
        <p:nvSpPr>
          <p:cNvPr id="12" name="Text 8"/>
          <p:cNvSpPr txBox="1"/>
          <p:nvPr/>
        </p:nvSpPr>
        <p:spPr>
          <a:xfrm>
            <a:off x="9784080" y="3054096"/>
            <a:ext cx="1856232" cy="274320"/>
          </a:xfrm>
          <a:prstGeom prst="rect">
            <a:avLst/>
          </a:prstGeom>
          <a:noFill/>
          <a:ln/>
        </p:spPr>
        <p:txBody>
          <a:bodyPr wrap="square" lIns="0" tIns="0" rIns="0" bIns="0" rtlCol="0" anchor="ctr"/>
          <a:lstStyle/>
          <a:p>
            <a:pPr indent="0" marL="0">
              <a:buNone/>
            </a:pPr>
            <a:r>
              <a:rPr lang="en-US" sz="1400" b="1" dirty="0">
                <a:solidFill>
                  <a:schemeClr val="accent1"/>
                </a:solidFill>
              </a:rPr>
              <a:t>Look for</a:t>
            </a:r>
            <a:endParaRPr lang="en-US" sz="1400" dirty="0"/>
          </a:p>
        </p:txBody>
      </p:sp>
      <p:sp>
        <p:nvSpPr>
          <p:cNvPr id="13" name="Text 9"/>
          <p:cNvSpPr txBox="1"/>
          <p:nvPr/>
        </p:nvSpPr>
        <p:spPr>
          <a:xfrm>
            <a:off x="9784080" y="3346704"/>
            <a:ext cx="1856232" cy="1188720"/>
          </a:xfrm>
          <a:prstGeom prst="rect">
            <a:avLst/>
          </a:prstGeom>
          <a:noFill/>
          <a:ln/>
        </p:spPr>
        <p:txBody>
          <a:bodyPr wrap="square" lIns="0" tIns="0" rIns="0" bIns="0" rtlCol="0" anchor="t"/>
          <a:lstStyle/>
          <a:p>
            <a:pPr indent="0" marL="0">
              <a:buNone/>
            </a:pPr>
            <a:r>
              <a:rPr lang="en-US" sz="1200" dirty="0">
                <a:solidFill>
                  <a:schemeClr val="tx1"/>
                </a:solidFill>
              </a:rPr>
              <a:t>Vehicle in italics: abstract. Its four children override the behaviour.</a:t>
            </a:r>
            <a:endParaRPr lang="en-US" sz="1200" dirty="0"/>
          </a:p>
        </p:txBody>
      </p:sp>
      <p:sp>
        <p:nvSpPr>
          <p:cNvPr id="14" name="Text 10"/>
          <p:cNvSpPr txBox="1"/>
          <p:nvPr/>
        </p:nvSpPr>
        <p:spPr>
          <a:xfrm>
            <a:off x="9784080" y="4626864"/>
            <a:ext cx="1856232" cy="274320"/>
          </a:xfrm>
          <a:prstGeom prst="rect">
            <a:avLst/>
          </a:prstGeom>
          <a:noFill/>
          <a:ln/>
        </p:spPr>
        <p:txBody>
          <a:bodyPr wrap="square" lIns="0" tIns="0" rIns="0" bIns="0" rtlCol="0" anchor="ctr"/>
          <a:lstStyle/>
          <a:p>
            <a:pPr indent="0" marL="0">
              <a:buNone/>
            </a:pPr>
            <a:r>
              <a:rPr lang="en-US" sz="1400" b="1" dirty="0">
                <a:solidFill>
                  <a:schemeClr val="accent1"/>
                </a:solidFill>
              </a:rPr>
              <a:t>Also drawn</a:t>
            </a:r>
            <a:endParaRPr lang="en-US" sz="1400" dirty="0"/>
          </a:p>
        </p:txBody>
      </p:sp>
      <p:sp>
        <p:nvSpPr>
          <p:cNvPr id="15" name="Text 11"/>
          <p:cNvSpPr txBox="1"/>
          <p:nvPr/>
        </p:nvSpPr>
        <p:spPr>
          <a:xfrm>
            <a:off x="9784080" y="4919472"/>
            <a:ext cx="1856232" cy="1188720"/>
          </a:xfrm>
          <a:prstGeom prst="rect">
            <a:avLst/>
          </a:prstGeom>
          <a:noFill/>
          <a:ln/>
        </p:spPr>
        <p:txBody>
          <a:bodyPr wrap="square" lIns="0" tIns="0" rIns="0" bIns="0" rtlCol="0" anchor="t"/>
          <a:lstStyle/>
          <a:p>
            <a:pPr indent="0" marL="0">
              <a:buNone/>
            </a:pPr>
            <a:r>
              <a:rPr lang="en-US" sz="1200" dirty="0">
                <a:solidFill>
                  <a:schemeClr val="tx1"/>
                </a:solidFill>
              </a:rPr>
              <a:t>An exception hierarchy and a sequence diagram of the Pune demo.</a:t>
            </a:r>
            <a:endParaRPr lang="en-US" sz="1200" dirty="0"/>
          </a:p>
        </p:txBody>
      </p:sp>
      <p:sp>
        <p:nvSpPr>
          <p:cNvPr id="16" name="Source"/>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chemeClr val="accent5"/>
                </a:solidFill>
              </a:rPr>
              <a:t>Source: docs/img/class_domain.png, class_services.png · generated from docs/diagrams/*.mmd · full set in the UML folder</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292608"/>
            <a:ext cx="100584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SWAPPABLE RULES</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Change the rule, not the code</a:t>
            </a:r>
            <a:endParaRPr lang="en-US" sz="3200" dirty="0"/>
          </a:p>
        </p:txBody>
      </p:sp>
      <p:sp>
        <p:nvSpPr>
          <p:cNvPr id="4" name="Text 2"/>
          <p:cNvSpPr txBox="1"/>
          <p:nvPr/>
        </p:nvSpPr>
        <p:spPr>
          <a:xfrm>
            <a:off x="548640" y="1481328"/>
            <a:ext cx="5440680" cy="320040"/>
          </a:xfrm>
          <a:prstGeom prst="rect">
            <a:avLst/>
          </a:prstGeom>
          <a:noFill/>
          <a:ln/>
        </p:spPr>
        <p:txBody>
          <a:bodyPr wrap="square" lIns="0" tIns="0" rIns="0" bIns="0" rtlCol="0" anchor="ctr"/>
          <a:lstStyle/>
          <a:p>
            <a:pPr indent="0" marL="0">
              <a:buNone/>
            </a:pPr>
            <a:r>
              <a:rPr lang="en-US" sz="1800" b="1" dirty="0">
                <a:solidFill>
                  <a:schemeClr val="tx1"/>
                </a:solidFill>
              </a:rPr>
              <a:t>Who gives the stock?</a:t>
            </a:r>
            <a:endParaRPr lang="en-US" sz="1800" dirty="0"/>
          </a:p>
        </p:txBody>
      </p:sp>
      <p:sp>
        <p:nvSpPr>
          <p:cNvPr id="5" name="Text 3"/>
          <p:cNvSpPr txBox="1"/>
          <p:nvPr/>
        </p:nvSpPr>
        <p:spPr>
          <a:xfrm>
            <a:off x="548640" y="1810512"/>
            <a:ext cx="5440680" cy="274320"/>
          </a:xfrm>
          <a:prstGeom prst="rect">
            <a:avLst/>
          </a:prstGeom>
          <a:noFill/>
          <a:ln/>
        </p:spPr>
        <p:txBody>
          <a:bodyPr wrap="square" lIns="0" tIns="0" rIns="0" bIns="0" rtlCol="0" anchor="ctr"/>
          <a:lstStyle/>
          <a:p>
            <a:pPr indent="0" marL="0">
              <a:buNone/>
            </a:pPr>
            <a:r>
              <a:rPr lang="en-US" sz="1200" dirty="0">
                <a:solidFill>
                  <a:schemeClr val="accent5"/>
                </a:solidFill>
              </a:rPr>
              <a:t>SourceSelectionStrategy: choose a donor base</a:t>
            </a:r>
            <a:endParaRPr lang="en-US" sz="1200" dirty="0"/>
          </a:p>
        </p:txBody>
      </p:sp>
      <p:sp>
        <p:nvSpPr>
          <p:cNvPr id="6" name="Card"/>
          <p:cNvSpPr/>
          <p:nvPr/>
        </p:nvSpPr>
        <p:spPr>
          <a:xfrm>
            <a:off x="548640" y="2194560"/>
            <a:ext cx="5440680" cy="914400"/>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7" name="Text 5"/>
          <p:cNvSpPr txBox="1"/>
          <p:nvPr/>
        </p:nvSpPr>
        <p:spPr>
          <a:xfrm>
            <a:off x="731520" y="2286000"/>
            <a:ext cx="1737360" cy="320040"/>
          </a:xfrm>
          <a:prstGeom prst="rect">
            <a:avLst/>
          </a:prstGeom>
          <a:noFill/>
          <a:ln/>
        </p:spPr>
        <p:txBody>
          <a:bodyPr wrap="square" lIns="0" tIns="0" rIns="0" bIns="0" rtlCol="0" anchor="ctr"/>
          <a:lstStyle/>
          <a:p>
            <a:pPr indent="0" marL="0">
              <a:buNone/>
            </a:pPr>
            <a:r>
              <a:rPr lang="en-US" sz="1600" b="1" dirty="0">
                <a:solidFill>
                  <a:schemeClr val="accent1"/>
                </a:solidFill>
              </a:rPr>
              <a:t>NEAREST</a:t>
            </a:r>
            <a:endParaRPr lang="en-US" sz="1600" dirty="0"/>
          </a:p>
        </p:txBody>
      </p:sp>
      <p:sp>
        <p:nvSpPr>
          <p:cNvPr id="8" name="Text 6"/>
          <p:cNvSpPr txBox="1"/>
          <p:nvPr/>
        </p:nvSpPr>
        <p:spPr>
          <a:xfrm>
            <a:off x="731520" y="2615184"/>
            <a:ext cx="1737360" cy="457200"/>
          </a:xfrm>
          <a:prstGeom prst="rect">
            <a:avLst/>
          </a:prstGeom>
          <a:noFill/>
          <a:ln/>
        </p:spPr>
        <p:txBody>
          <a:bodyPr wrap="square" lIns="0" tIns="0" rIns="0" bIns="0" rtlCol="0" anchor="t"/>
          <a:lstStyle/>
          <a:p>
            <a:pPr indent="0" marL="0">
              <a:buNone/>
            </a:pPr>
            <a:r>
              <a:rPr lang="en-US" sz="1200" b="1" dirty="0">
                <a:solidFill>
                  <a:schemeClr val="tx1"/>
                </a:solidFill>
              </a:rPr>
              <a:t>The closest shop</a:t>
            </a:r>
            <a:endParaRPr lang="en-US" sz="1200" dirty="0"/>
          </a:p>
        </p:txBody>
      </p:sp>
      <p:sp>
        <p:nvSpPr>
          <p:cNvPr id="9" name="Text 7"/>
          <p:cNvSpPr txBox="1"/>
          <p:nvPr/>
        </p:nvSpPr>
        <p:spPr>
          <a:xfrm>
            <a:off x="2560320" y="2286000"/>
            <a:ext cx="3246120" cy="749808"/>
          </a:xfrm>
          <a:prstGeom prst="rect">
            <a:avLst/>
          </a:prstGeom>
          <a:noFill/>
          <a:ln/>
        </p:spPr>
        <p:txBody>
          <a:bodyPr wrap="square" lIns="0" tIns="0" rIns="0" bIns="0" rtlCol="0" anchor="ctr"/>
          <a:lstStyle/>
          <a:p>
            <a:pPr indent="0" marL="0">
              <a:buNone/>
            </a:pPr>
            <a:r>
              <a:rPr lang="en-US" sz="1200" dirty="0">
                <a:solidFill>
                  <a:schemeClr val="tx1"/>
                </a:solidFill>
              </a:rPr>
              <a:t>Picks the donor with the shortest distance.</a:t>
            </a:r>
            <a:endParaRPr lang="en-US" sz="1200" dirty="0"/>
          </a:p>
        </p:txBody>
      </p:sp>
      <p:sp>
        <p:nvSpPr>
          <p:cNvPr id="10" name="Card"/>
          <p:cNvSpPr/>
          <p:nvPr/>
        </p:nvSpPr>
        <p:spPr>
          <a:xfrm>
            <a:off x="548640" y="3218688"/>
            <a:ext cx="5440680" cy="914400"/>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11" name="Text 9"/>
          <p:cNvSpPr txBox="1"/>
          <p:nvPr/>
        </p:nvSpPr>
        <p:spPr>
          <a:xfrm>
            <a:off x="731520" y="3310128"/>
            <a:ext cx="1737360" cy="320040"/>
          </a:xfrm>
          <a:prstGeom prst="rect">
            <a:avLst/>
          </a:prstGeom>
          <a:noFill/>
          <a:ln/>
        </p:spPr>
        <p:txBody>
          <a:bodyPr wrap="square" lIns="0" tIns="0" rIns="0" bIns="0" rtlCol="0" anchor="ctr"/>
          <a:lstStyle/>
          <a:p>
            <a:pPr indent="0" marL="0">
              <a:buNone/>
            </a:pPr>
            <a:r>
              <a:rPr lang="en-US" sz="1600" b="1" dirty="0">
                <a:solidFill>
                  <a:schemeClr val="accent1"/>
                </a:solidFill>
              </a:rPr>
              <a:t>SURPLUS</a:t>
            </a:r>
            <a:endParaRPr lang="en-US" sz="1600" dirty="0"/>
          </a:p>
        </p:txBody>
      </p:sp>
      <p:sp>
        <p:nvSpPr>
          <p:cNvPr id="12" name="Text 10"/>
          <p:cNvSpPr txBox="1"/>
          <p:nvPr/>
        </p:nvSpPr>
        <p:spPr>
          <a:xfrm>
            <a:off x="731520" y="3639312"/>
            <a:ext cx="1737360" cy="457200"/>
          </a:xfrm>
          <a:prstGeom prst="rect">
            <a:avLst/>
          </a:prstGeom>
          <a:noFill/>
          <a:ln/>
        </p:spPr>
        <p:txBody>
          <a:bodyPr wrap="square" lIns="0" tIns="0" rIns="0" bIns="0" rtlCol="0" anchor="t"/>
          <a:lstStyle/>
          <a:p>
            <a:pPr indent="0" marL="0">
              <a:buNone/>
            </a:pPr>
            <a:r>
              <a:rPr lang="en-US" sz="1200" b="1" dirty="0">
                <a:solidFill>
                  <a:schemeClr val="tx1"/>
                </a:solidFill>
              </a:rPr>
              <a:t>The fullest shelf</a:t>
            </a:r>
            <a:endParaRPr lang="en-US" sz="1200" dirty="0"/>
          </a:p>
        </p:txBody>
      </p:sp>
      <p:sp>
        <p:nvSpPr>
          <p:cNvPr id="13" name="Text 11"/>
          <p:cNvSpPr txBox="1"/>
          <p:nvPr/>
        </p:nvSpPr>
        <p:spPr>
          <a:xfrm>
            <a:off x="2560320" y="3310128"/>
            <a:ext cx="3246120" cy="749808"/>
          </a:xfrm>
          <a:prstGeom prst="rect">
            <a:avLst/>
          </a:prstGeom>
          <a:noFill/>
          <a:ln/>
        </p:spPr>
        <p:txBody>
          <a:bodyPr wrap="square" lIns="0" tIns="0" rIns="0" bIns="0" rtlCol="0" anchor="ctr"/>
          <a:lstStyle/>
          <a:p>
            <a:pPr indent="0" marL="0">
              <a:buNone/>
            </a:pPr>
            <a:r>
              <a:rPr lang="en-US" sz="1200" dirty="0">
                <a:solidFill>
                  <a:schemeClr val="tx1"/>
                </a:solidFill>
              </a:rPr>
              <a:t>Picks the donor with the most spare stock.</a:t>
            </a:r>
            <a:endParaRPr lang="en-US" sz="1200" dirty="0"/>
          </a:p>
        </p:txBody>
      </p:sp>
      <p:sp>
        <p:nvSpPr>
          <p:cNvPr id="14" name="Card"/>
          <p:cNvSpPr/>
          <p:nvPr/>
        </p:nvSpPr>
        <p:spPr>
          <a:xfrm>
            <a:off x="548640" y="4242816"/>
            <a:ext cx="5440680" cy="914400"/>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15" name="Text 13"/>
          <p:cNvSpPr txBox="1"/>
          <p:nvPr/>
        </p:nvSpPr>
        <p:spPr>
          <a:xfrm>
            <a:off x="731520" y="4334256"/>
            <a:ext cx="1737360" cy="320040"/>
          </a:xfrm>
          <a:prstGeom prst="rect">
            <a:avLst/>
          </a:prstGeom>
          <a:noFill/>
          <a:ln/>
        </p:spPr>
        <p:txBody>
          <a:bodyPr wrap="square" lIns="0" tIns="0" rIns="0" bIns="0" rtlCol="0" anchor="ctr"/>
          <a:lstStyle/>
          <a:p>
            <a:pPr indent="0" marL="0">
              <a:buNone/>
            </a:pPr>
            <a:r>
              <a:rPr lang="en-US" sz="1600" b="1" dirty="0">
                <a:solidFill>
                  <a:schemeClr val="accent1"/>
                </a:solidFill>
              </a:rPr>
              <a:t>BALANCED</a:t>
            </a:r>
            <a:endParaRPr lang="en-US" sz="1600" dirty="0"/>
          </a:p>
        </p:txBody>
      </p:sp>
      <p:sp>
        <p:nvSpPr>
          <p:cNvPr id="16" name="Text 14"/>
          <p:cNvSpPr txBox="1"/>
          <p:nvPr/>
        </p:nvSpPr>
        <p:spPr>
          <a:xfrm>
            <a:off x="731520" y="4663440"/>
            <a:ext cx="1737360" cy="457200"/>
          </a:xfrm>
          <a:prstGeom prst="rect">
            <a:avLst/>
          </a:prstGeom>
          <a:noFill/>
          <a:ln/>
        </p:spPr>
        <p:txBody>
          <a:bodyPr wrap="square" lIns="0" tIns="0" rIns="0" bIns="0" rtlCol="0" anchor="t"/>
          <a:lstStyle/>
          <a:p>
            <a:pPr indent="0" marL="0">
              <a:buNone/>
            </a:pPr>
            <a:r>
              <a:rPr lang="en-US" sz="1200" b="1" dirty="0">
                <a:solidFill>
                  <a:schemeClr val="tx1"/>
                </a:solidFill>
              </a:rPr>
              <a:t>A bit of both</a:t>
            </a:r>
            <a:endParaRPr lang="en-US" sz="1200" dirty="0"/>
          </a:p>
        </p:txBody>
      </p:sp>
      <p:sp>
        <p:nvSpPr>
          <p:cNvPr id="17" name="Text 15"/>
          <p:cNvSpPr txBox="1"/>
          <p:nvPr/>
        </p:nvSpPr>
        <p:spPr>
          <a:xfrm>
            <a:off x="2560320" y="4334256"/>
            <a:ext cx="3246120" cy="749808"/>
          </a:xfrm>
          <a:prstGeom prst="rect">
            <a:avLst/>
          </a:prstGeom>
          <a:noFill/>
          <a:ln/>
        </p:spPr>
        <p:txBody>
          <a:bodyPr wrap="square" lIns="0" tIns="0" rIns="0" bIns="0" rtlCol="0" anchor="ctr"/>
          <a:lstStyle/>
          <a:p>
            <a:pPr indent="0" marL="0">
              <a:buNone/>
            </a:pPr>
            <a:r>
              <a:rPr lang="en-US" sz="1200" dirty="0">
                <a:solidFill>
                  <a:schemeClr val="tx1"/>
                </a:solidFill>
              </a:rPr>
              <a:t>Scores half on distance, half on spare stock.</a:t>
            </a:r>
            <a:endParaRPr lang="en-US" sz="1200" dirty="0"/>
          </a:p>
        </p:txBody>
      </p:sp>
      <p:sp>
        <p:nvSpPr>
          <p:cNvPr id="18" name="Text 16"/>
          <p:cNvSpPr txBox="1"/>
          <p:nvPr/>
        </p:nvSpPr>
        <p:spPr>
          <a:xfrm>
            <a:off x="6199632" y="1481328"/>
            <a:ext cx="5440680" cy="320040"/>
          </a:xfrm>
          <a:prstGeom prst="rect">
            <a:avLst/>
          </a:prstGeom>
          <a:noFill/>
          <a:ln/>
        </p:spPr>
        <p:txBody>
          <a:bodyPr wrap="square" lIns="0" tIns="0" rIns="0" bIns="0" rtlCol="0" anchor="ctr"/>
          <a:lstStyle/>
          <a:p>
            <a:pPr indent="0" marL="0">
              <a:buNone/>
            </a:pPr>
            <a:r>
              <a:rPr lang="en-US" sz="1800" b="1" dirty="0">
                <a:solidFill>
                  <a:schemeClr val="tx1"/>
                </a:solidFill>
              </a:rPr>
              <a:t>What carries it?</a:t>
            </a:r>
            <a:endParaRPr lang="en-US" sz="1800" dirty="0"/>
          </a:p>
        </p:txBody>
      </p:sp>
      <p:sp>
        <p:nvSpPr>
          <p:cNvPr id="19" name="Text 17"/>
          <p:cNvSpPr txBox="1"/>
          <p:nvPr/>
        </p:nvSpPr>
        <p:spPr>
          <a:xfrm>
            <a:off x="6199632" y="1810512"/>
            <a:ext cx="5440680" cy="274320"/>
          </a:xfrm>
          <a:prstGeom prst="rect">
            <a:avLst/>
          </a:prstGeom>
          <a:noFill/>
          <a:ln/>
        </p:spPr>
        <p:txBody>
          <a:bodyPr wrap="square" lIns="0" tIns="0" rIns="0" bIns="0" rtlCol="0" anchor="ctr"/>
          <a:lstStyle/>
          <a:p>
            <a:pPr indent="0" marL="0">
              <a:buNone/>
            </a:pPr>
            <a:r>
              <a:rPr lang="en-US" sz="1200" dirty="0">
                <a:solidFill>
                  <a:schemeClr val="accent5"/>
                </a:solidFill>
              </a:rPr>
              <a:t>VehicleAssignmentStrategy: choose a vehicle</a:t>
            </a:r>
            <a:endParaRPr lang="en-US" sz="1200" dirty="0"/>
          </a:p>
        </p:txBody>
      </p:sp>
      <p:sp>
        <p:nvSpPr>
          <p:cNvPr id="20" name="Card"/>
          <p:cNvSpPr/>
          <p:nvPr/>
        </p:nvSpPr>
        <p:spPr>
          <a:xfrm>
            <a:off x="6199632" y="2194560"/>
            <a:ext cx="5440680" cy="914400"/>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21" name="Text 19"/>
          <p:cNvSpPr txBox="1"/>
          <p:nvPr/>
        </p:nvSpPr>
        <p:spPr>
          <a:xfrm>
            <a:off x="6382512" y="2286000"/>
            <a:ext cx="1737360" cy="320040"/>
          </a:xfrm>
          <a:prstGeom prst="rect">
            <a:avLst/>
          </a:prstGeom>
          <a:noFill/>
          <a:ln/>
        </p:spPr>
        <p:txBody>
          <a:bodyPr wrap="square" lIns="0" tIns="0" rIns="0" bIns="0" rtlCol="0" anchor="ctr"/>
          <a:lstStyle/>
          <a:p>
            <a:pPr indent="0" marL="0">
              <a:buNone/>
            </a:pPr>
            <a:r>
              <a:rPr lang="en-US" sz="1600" b="1" dirty="0">
                <a:solidFill>
                  <a:schemeClr val="accent1"/>
                </a:solidFill>
              </a:rPr>
              <a:t>SMALLEST</a:t>
            </a:r>
            <a:endParaRPr lang="en-US" sz="1600" dirty="0"/>
          </a:p>
        </p:txBody>
      </p:sp>
      <p:sp>
        <p:nvSpPr>
          <p:cNvPr id="22" name="Text 20"/>
          <p:cNvSpPr txBox="1"/>
          <p:nvPr/>
        </p:nvSpPr>
        <p:spPr>
          <a:xfrm>
            <a:off x="6382512" y="2615184"/>
            <a:ext cx="1737360" cy="457200"/>
          </a:xfrm>
          <a:prstGeom prst="rect">
            <a:avLst/>
          </a:prstGeom>
          <a:noFill/>
          <a:ln/>
        </p:spPr>
        <p:txBody>
          <a:bodyPr wrap="square" lIns="0" tIns="0" rIns="0" bIns="0" rtlCol="0" anchor="t"/>
          <a:lstStyle/>
          <a:p>
            <a:pPr indent="0" marL="0">
              <a:buNone/>
            </a:pPr>
            <a:r>
              <a:rPr lang="en-US" sz="1200" b="1" dirty="0">
                <a:solidFill>
                  <a:schemeClr val="tx1"/>
                </a:solidFill>
              </a:rPr>
              <a:t>The snuggest fit</a:t>
            </a:r>
            <a:endParaRPr lang="en-US" sz="1200" dirty="0"/>
          </a:p>
        </p:txBody>
      </p:sp>
      <p:sp>
        <p:nvSpPr>
          <p:cNvPr id="23" name="Text 21"/>
          <p:cNvSpPr txBox="1"/>
          <p:nvPr/>
        </p:nvSpPr>
        <p:spPr>
          <a:xfrm>
            <a:off x="8211312" y="2286000"/>
            <a:ext cx="3246120" cy="749808"/>
          </a:xfrm>
          <a:prstGeom prst="rect">
            <a:avLst/>
          </a:prstGeom>
          <a:noFill/>
          <a:ln/>
        </p:spPr>
        <p:txBody>
          <a:bodyPr wrap="square" lIns="0" tIns="0" rIns="0" bIns="0" rtlCol="0" anchor="ctr"/>
          <a:lstStyle/>
          <a:p>
            <a:pPr indent="0" marL="0">
              <a:buNone/>
            </a:pPr>
            <a:r>
              <a:rPr lang="en-US" sz="1200" dirty="0">
                <a:solidFill>
                  <a:schemeClr val="tx1"/>
                </a:solidFill>
              </a:rPr>
              <a:t>Smallest vehicle that carries the whole load.</a:t>
            </a:r>
            <a:endParaRPr lang="en-US" sz="1200" dirty="0"/>
          </a:p>
        </p:txBody>
      </p:sp>
      <p:sp>
        <p:nvSpPr>
          <p:cNvPr id="24" name="Card"/>
          <p:cNvSpPr/>
          <p:nvPr/>
        </p:nvSpPr>
        <p:spPr>
          <a:xfrm>
            <a:off x="6199632" y="3218688"/>
            <a:ext cx="5440680" cy="914400"/>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6382512" y="3310128"/>
            <a:ext cx="1737360" cy="320040"/>
          </a:xfrm>
          <a:prstGeom prst="rect">
            <a:avLst/>
          </a:prstGeom>
          <a:noFill/>
          <a:ln/>
        </p:spPr>
        <p:txBody>
          <a:bodyPr wrap="square" lIns="0" tIns="0" rIns="0" bIns="0" rtlCol="0" anchor="ctr"/>
          <a:lstStyle/>
          <a:p>
            <a:pPr indent="0" marL="0">
              <a:buNone/>
            </a:pPr>
            <a:r>
              <a:rPr lang="en-US" sz="1600" b="1" dirty="0">
                <a:solidFill>
                  <a:schemeClr val="accent1"/>
                </a:solidFill>
              </a:rPr>
              <a:t>FASTEST</a:t>
            </a:r>
            <a:endParaRPr lang="en-US" sz="1600" dirty="0"/>
          </a:p>
        </p:txBody>
      </p:sp>
      <p:sp>
        <p:nvSpPr>
          <p:cNvPr id="26" name="Text 24"/>
          <p:cNvSpPr txBox="1"/>
          <p:nvPr/>
        </p:nvSpPr>
        <p:spPr>
          <a:xfrm>
            <a:off x="6382512" y="3639312"/>
            <a:ext cx="1737360" cy="457200"/>
          </a:xfrm>
          <a:prstGeom prst="rect">
            <a:avLst/>
          </a:prstGeom>
          <a:noFill/>
          <a:ln/>
        </p:spPr>
        <p:txBody>
          <a:bodyPr wrap="square" lIns="0" tIns="0" rIns="0" bIns="0" rtlCol="0" anchor="t"/>
          <a:lstStyle/>
          <a:p>
            <a:pPr indent="0" marL="0">
              <a:buNone/>
            </a:pPr>
            <a:r>
              <a:rPr lang="en-US" sz="1200" b="1" dirty="0">
                <a:solidFill>
                  <a:schemeClr val="tx1"/>
                </a:solidFill>
              </a:rPr>
              <a:t>The quickest ride</a:t>
            </a:r>
            <a:endParaRPr lang="en-US" sz="1200" dirty="0"/>
          </a:p>
        </p:txBody>
      </p:sp>
      <p:sp>
        <p:nvSpPr>
          <p:cNvPr id="27" name="Text 25"/>
          <p:cNvSpPr txBox="1"/>
          <p:nvPr/>
        </p:nvSpPr>
        <p:spPr>
          <a:xfrm>
            <a:off x="8211312" y="3310128"/>
            <a:ext cx="3246120" cy="749808"/>
          </a:xfrm>
          <a:prstGeom prst="rect">
            <a:avLst/>
          </a:prstGeom>
          <a:noFill/>
          <a:ln/>
        </p:spPr>
        <p:txBody>
          <a:bodyPr wrap="square" lIns="0" tIns="0" rIns="0" bIns="0" rtlCol="0" anchor="ctr"/>
          <a:lstStyle/>
          <a:p>
            <a:pPr indent="0" marL="0">
              <a:buNone/>
            </a:pPr>
            <a:r>
              <a:rPr lang="en-US" sz="1200" dirty="0">
                <a:solidFill>
                  <a:schemeClr val="tx1"/>
                </a:solidFill>
              </a:rPr>
              <a:t>Vehicle with the fewest hours for the trip.</a:t>
            </a:r>
            <a:endParaRPr lang="en-US" sz="1200" dirty="0"/>
          </a:p>
        </p:txBody>
      </p:sp>
      <p:sp>
        <p:nvSpPr>
          <p:cNvPr id="28" name="Card"/>
          <p:cNvSpPr/>
          <p:nvPr/>
        </p:nvSpPr>
        <p:spPr>
          <a:xfrm>
            <a:off x="6199632" y="4242816"/>
            <a:ext cx="5440680" cy="914400"/>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29" name="Text 27"/>
          <p:cNvSpPr txBox="1"/>
          <p:nvPr/>
        </p:nvSpPr>
        <p:spPr>
          <a:xfrm>
            <a:off x="6382512" y="4334256"/>
            <a:ext cx="1737360" cy="320040"/>
          </a:xfrm>
          <a:prstGeom prst="rect">
            <a:avLst/>
          </a:prstGeom>
          <a:noFill/>
          <a:ln/>
        </p:spPr>
        <p:txBody>
          <a:bodyPr wrap="square" lIns="0" tIns="0" rIns="0" bIns="0" rtlCol="0" anchor="ctr"/>
          <a:lstStyle/>
          <a:p>
            <a:pPr indent="0" marL="0">
              <a:buNone/>
            </a:pPr>
            <a:r>
              <a:rPr lang="en-US" sz="1600" b="1" dirty="0">
                <a:solidFill>
                  <a:schemeClr val="accent1"/>
                </a:solidFill>
              </a:rPr>
              <a:t>RANDOM</a:t>
            </a:r>
            <a:endParaRPr lang="en-US" sz="1600" dirty="0"/>
          </a:p>
        </p:txBody>
      </p:sp>
      <p:sp>
        <p:nvSpPr>
          <p:cNvPr id="30" name="Text 28"/>
          <p:cNvSpPr txBox="1"/>
          <p:nvPr/>
        </p:nvSpPr>
        <p:spPr>
          <a:xfrm>
            <a:off x="6382512" y="4663440"/>
            <a:ext cx="1737360" cy="457200"/>
          </a:xfrm>
          <a:prstGeom prst="rect">
            <a:avLst/>
          </a:prstGeom>
          <a:noFill/>
          <a:ln/>
        </p:spPr>
        <p:txBody>
          <a:bodyPr wrap="square" lIns="0" tIns="0" rIns="0" bIns="0" rtlCol="0" anchor="t"/>
          <a:lstStyle/>
          <a:p>
            <a:pPr indent="0" marL="0">
              <a:buNone/>
            </a:pPr>
            <a:r>
              <a:rPr lang="en-US" sz="1200" b="1" dirty="0">
                <a:solidFill>
                  <a:schemeClr val="tx1"/>
                </a:solidFill>
              </a:rPr>
              <a:t>Our yardstick</a:t>
            </a:r>
            <a:endParaRPr lang="en-US" sz="1200" dirty="0"/>
          </a:p>
        </p:txBody>
      </p:sp>
      <p:sp>
        <p:nvSpPr>
          <p:cNvPr id="31" name="Text 29"/>
          <p:cNvSpPr txBox="1"/>
          <p:nvPr/>
        </p:nvSpPr>
        <p:spPr>
          <a:xfrm>
            <a:off x="8211312" y="4334256"/>
            <a:ext cx="3246120" cy="749808"/>
          </a:xfrm>
          <a:prstGeom prst="rect">
            <a:avLst/>
          </a:prstGeom>
          <a:noFill/>
          <a:ln/>
        </p:spPr>
        <p:txBody>
          <a:bodyPr wrap="square" lIns="0" tIns="0" rIns="0" bIns="0" rtlCol="0" anchor="ctr"/>
          <a:lstStyle/>
          <a:p>
            <a:pPr indent="0" marL="0">
              <a:buNone/>
            </a:pPr>
            <a:r>
              <a:rPr lang="en-US" sz="1200" dirty="0">
                <a:solidFill>
                  <a:schemeClr val="tx1"/>
                </a:solidFill>
              </a:rPr>
              <a:t>A random pick, used only as a baseline to beat.</a:t>
            </a:r>
            <a:endParaRPr lang="en-US" sz="1200" dirty="0"/>
          </a:p>
        </p:txBody>
      </p:sp>
      <p:sp>
        <p:nvSpPr>
          <p:cNvPr id="32" name="Banner"/>
          <p:cNvSpPr/>
          <p:nvPr/>
        </p:nvSpPr>
        <p:spPr>
          <a:xfrm>
            <a:off x="548640" y="5394960"/>
            <a:ext cx="11091672" cy="777240"/>
          </a:xfrm>
          <a:prstGeom prst="rect">
            <a:avLst/>
          </a:prstGeom>
          <a:solidFill>
            <a:schemeClr val="tx1"/>
          </a:solidFill>
          <a:ln/>
        </p:spPr>
      </p:sp>
      <p:sp>
        <p:nvSpPr>
          <p:cNvPr id="33" name="Text 31"/>
          <p:cNvSpPr txBox="1"/>
          <p:nvPr/>
        </p:nvSpPr>
        <p:spPr>
          <a:xfrm>
            <a:off x="822960" y="5440680"/>
            <a:ext cx="10607040" cy="685800"/>
          </a:xfrm>
          <a:prstGeom prst="rect">
            <a:avLst/>
          </a:prstGeom>
          <a:noFill/>
          <a:ln/>
        </p:spPr>
        <p:txBody>
          <a:bodyPr wrap="square" lIns="0" tIns="0" rIns="0" bIns="0" rtlCol="0" anchor="ctr"/>
          <a:lstStyle/>
          <a:p>
            <a:pPr indent="0" marL="0">
              <a:buNone/>
            </a:pPr>
            <a:r>
              <a:rPr lang="en-US" sz="1400" b="1" dirty="0">
                <a:solidFill>
                  <a:schemeClr val="accent2"/>
                </a:solidFill>
              </a:rPr>
              <a:t>Why it matters: </a:t>
            </a:r>
            <a:pPr indent="0" marL="0">
              <a:buNone/>
            </a:pPr>
            <a:r>
              <a:rPr lang="en-US" sz="1400" dirty="0">
                <a:solidFill>
                  <a:schemeClr val="bg1"/>
                </a:solidFill>
              </a:rPr>
              <a:t>each rule is a small class behind an interface. Adding a new rule means adding a class, and in the terminal you swap it live with STRAT SRC BALANCED.</a:t>
            </a:r>
            <a:endParaRPr lang="en-US" sz="1400" dirty="0"/>
          </a:p>
        </p:txBody>
      </p:sp>
      <p:sp>
        <p:nvSpPr>
          <p:cNvPr id="34" name="Source"/>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chemeClr val="accent5"/>
                </a:solidFill>
              </a:rPr>
              <a:t>Source: docs/design.md §5 · the same strategies drive both the terminal and the experiments</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292608"/>
            <a:ext cx="10058400" cy="256032"/>
          </a:xfrm>
          <a:prstGeom prst="rect">
            <a:avLst/>
          </a:prstGeom>
          <a:noFill/>
          <a:ln/>
        </p:spPr>
        <p:txBody>
          <a:bodyPr wrap="square" lIns="0" tIns="0" rIns="0" bIns="0" rtlCol="0" anchor="ctr"/>
          <a:lstStyle/>
          <a:p>
            <a:pPr indent="0" marL="0">
              <a:buNone/>
            </a:pPr>
            <a:r>
              <a:rPr lang="en-US" sz="1100" b="1" spc="300" kern="0" dirty="0">
                <a:solidFill>
                  <a:srgbClr val="F2A33A"/>
                </a:solidFill>
              </a:rPr>
              <a:t>LIVE DEMO · ABOUT 5 MINUTES</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bg1"/>
                </a:solidFill>
              </a:rPr>
              <a:t>One command, start to finish</a:t>
            </a:r>
            <a:endParaRPr lang="en-US" sz="3200" dirty="0"/>
          </a:p>
        </p:txBody>
      </p:sp>
      <p:sp>
        <p:nvSpPr>
          <p:cNvPr id="4" name="Terminal"/>
          <p:cNvSpPr/>
          <p:nvPr/>
        </p:nvSpPr>
        <p:spPr>
          <a:xfrm>
            <a:off x="548640" y="1508760"/>
            <a:ext cx="11091672" cy="2743200"/>
          </a:xfrm>
          <a:prstGeom prst="rect">
            <a:avLst/>
          </a:prstGeom>
          <a:solidFill>
            <a:srgbClr val="070E19"/>
          </a:solidFill>
          <a:ln w="12700">
            <a:solidFill>
              <a:srgbClr val="2A3B57"/>
            </a:solidFill>
            <a:prstDash val="solid"/>
          </a:ln>
        </p:spPr>
      </p:sp>
      <p:sp>
        <p:nvSpPr>
          <p:cNvPr id="5" name="Text 3"/>
          <p:cNvSpPr txBox="1"/>
          <p:nvPr/>
        </p:nvSpPr>
        <p:spPr>
          <a:xfrm>
            <a:off x="822960" y="1645920"/>
            <a:ext cx="4754880" cy="365760"/>
          </a:xfrm>
          <a:prstGeom prst="rect">
            <a:avLst/>
          </a:prstGeom>
          <a:noFill/>
          <a:ln/>
        </p:spPr>
        <p:txBody>
          <a:bodyPr wrap="square" lIns="0" tIns="0" rIns="0" bIns="0" rtlCol="0" anchor="ctr"/>
          <a:lstStyle/>
          <a:p>
            <a:pPr indent="0" marL="0">
              <a:buNone/>
            </a:pPr>
            <a:r>
              <a:rPr lang="en-US" sz="1400" dirty="0">
                <a:solidFill>
                  <a:srgbClr val="F2A33A"/>
                </a:solidFill>
                <a:latin typeface="Courier New" pitchFamily="34" charset="0"/>
                <a:ea typeface="Courier New" pitchFamily="34" charset="-122"/>
                <a:cs typeface="Courier New" pitchFamily="34" charset="-120"/>
              </a:rPr>
              <a:t>&gt; REQ NEW PUN MED-KIT 200 URGENT</a:t>
            </a:r>
            <a:endParaRPr lang="en-US" sz="1400" dirty="0"/>
          </a:p>
        </p:txBody>
      </p:sp>
      <p:sp>
        <p:nvSpPr>
          <p:cNvPr id="6" name="Text 4"/>
          <p:cNvSpPr txBox="1"/>
          <p:nvPr/>
        </p:nvSpPr>
        <p:spPr>
          <a:xfrm>
            <a:off x="5669280" y="1645920"/>
            <a:ext cx="5852160" cy="365760"/>
          </a:xfrm>
          <a:prstGeom prst="rect">
            <a:avLst/>
          </a:prstGeom>
          <a:noFill/>
          <a:ln/>
        </p:spPr>
        <p:txBody>
          <a:bodyPr wrap="square" lIns="0" tIns="0" rIns="0" bIns="0" rtlCol="0" anchor="ctr"/>
          <a:lstStyle/>
          <a:p>
            <a:pPr indent="0" marL="0">
              <a:buNone/>
            </a:pPr>
            <a:r>
              <a:rPr lang="en-US" sz="1400" dirty="0">
                <a:solidFill>
                  <a:srgbClr val="E7EDF6"/>
                </a:solidFill>
                <a:latin typeface="Courier New" pitchFamily="34" charset="0"/>
                <a:ea typeface="Courier New" pitchFamily="34" charset="-122"/>
                <a:cs typeface="Courier New" pitchFamily="34" charset="-120"/>
              </a:rPr>
              <a:t>Request R-0001 created (NEW)</a:t>
            </a:r>
            <a:endParaRPr lang="en-US" sz="1400" dirty="0"/>
          </a:p>
        </p:txBody>
      </p:sp>
      <p:sp>
        <p:nvSpPr>
          <p:cNvPr id="7" name="Text 5"/>
          <p:cNvSpPr txBox="1"/>
          <p:nvPr/>
        </p:nvSpPr>
        <p:spPr>
          <a:xfrm>
            <a:off x="822960" y="2066544"/>
            <a:ext cx="4754880" cy="365760"/>
          </a:xfrm>
          <a:prstGeom prst="rect">
            <a:avLst/>
          </a:prstGeom>
          <a:noFill/>
          <a:ln/>
        </p:spPr>
        <p:txBody>
          <a:bodyPr wrap="square" lIns="0" tIns="0" rIns="0" bIns="0" rtlCol="0" anchor="ctr"/>
          <a:lstStyle/>
          <a:p>
            <a:pPr indent="0" marL="0">
              <a:buNone/>
            </a:pPr>
            <a:r>
              <a:rPr lang="en-US" sz="1400" dirty="0">
                <a:solidFill>
                  <a:srgbClr val="F2A33A"/>
                </a:solidFill>
                <a:latin typeface="Courier New" pitchFamily="34" charset="0"/>
                <a:ea typeface="Courier New" pitchFamily="34" charset="-122"/>
                <a:cs typeface="Courier New" pitchFamily="34" charset="-120"/>
              </a:rPr>
              <a:t>&gt; REQ APPROVE R-0001</a:t>
            </a:r>
            <a:endParaRPr lang="en-US" sz="1400" dirty="0"/>
          </a:p>
        </p:txBody>
      </p:sp>
      <p:sp>
        <p:nvSpPr>
          <p:cNvPr id="8" name="Text 6"/>
          <p:cNvSpPr txBox="1"/>
          <p:nvPr/>
        </p:nvSpPr>
        <p:spPr>
          <a:xfrm>
            <a:off x="5669280" y="2066544"/>
            <a:ext cx="5852160" cy="365760"/>
          </a:xfrm>
          <a:prstGeom prst="rect">
            <a:avLst/>
          </a:prstGeom>
          <a:noFill/>
          <a:ln/>
        </p:spPr>
        <p:txBody>
          <a:bodyPr wrap="square" lIns="0" tIns="0" rIns="0" bIns="0" rtlCol="0" anchor="ctr"/>
          <a:lstStyle/>
          <a:p>
            <a:pPr indent="0" marL="0">
              <a:buNone/>
            </a:pPr>
            <a:r>
              <a:rPr lang="en-US" sz="1400" dirty="0">
                <a:solidFill>
                  <a:srgbClr val="E7EDF6"/>
                </a:solidFill>
                <a:latin typeface="Courier New" pitchFamily="34" charset="0"/>
                <a:ea typeface="Courier New" pitchFamily="34" charset="-122"/>
                <a:cs typeface="Courier New" pitchFamily="34" charset="-120"/>
              </a:rPr>
              <a:t>Request R-0001 is now APPROVED</a:t>
            </a:r>
            <a:endParaRPr lang="en-US" sz="1400" dirty="0"/>
          </a:p>
        </p:txBody>
      </p:sp>
      <p:sp>
        <p:nvSpPr>
          <p:cNvPr id="9" name="Text 7"/>
          <p:cNvSpPr txBox="1"/>
          <p:nvPr/>
        </p:nvSpPr>
        <p:spPr>
          <a:xfrm>
            <a:off x="822960" y="2487168"/>
            <a:ext cx="4754880" cy="365760"/>
          </a:xfrm>
          <a:prstGeom prst="rect">
            <a:avLst/>
          </a:prstGeom>
          <a:noFill/>
          <a:ln/>
        </p:spPr>
        <p:txBody>
          <a:bodyPr wrap="square" lIns="0" tIns="0" rIns="0" bIns="0" rtlCol="0" anchor="ctr"/>
          <a:lstStyle/>
          <a:p>
            <a:pPr indent="0" marL="0">
              <a:buNone/>
            </a:pPr>
            <a:r>
              <a:rPr lang="en-US" sz="1400" dirty="0">
                <a:solidFill>
                  <a:srgbClr val="F2A33A"/>
                </a:solidFill>
                <a:latin typeface="Courier New" pitchFamily="34" charset="0"/>
                <a:ea typeface="Courier New" pitchFamily="34" charset="-122"/>
                <a:cs typeface="Courier New" pitchFamily="34" charset="-120"/>
              </a:rPr>
              <a:t>&gt; REQ FULFIL R-0001</a:t>
            </a:r>
            <a:endParaRPr lang="en-US" sz="1400" dirty="0"/>
          </a:p>
        </p:txBody>
      </p:sp>
      <p:sp>
        <p:nvSpPr>
          <p:cNvPr id="10" name="Text 8"/>
          <p:cNvSpPr txBox="1"/>
          <p:nvPr/>
        </p:nvSpPr>
        <p:spPr>
          <a:xfrm>
            <a:off x="5669280" y="2487168"/>
            <a:ext cx="5852160" cy="365760"/>
          </a:xfrm>
          <a:prstGeom prst="rect">
            <a:avLst/>
          </a:prstGeom>
          <a:noFill/>
          <a:ln/>
        </p:spPr>
        <p:txBody>
          <a:bodyPr wrap="square" lIns="0" tIns="0" rIns="0" bIns="0" rtlCol="0" anchor="ctr"/>
          <a:lstStyle/>
          <a:p>
            <a:pPr indent="0" marL="0">
              <a:buNone/>
            </a:pPr>
            <a:r>
              <a:rPr lang="en-US" sz="1400" dirty="0">
                <a:solidFill>
                  <a:srgbClr val="E7EDF6"/>
                </a:solidFill>
                <a:latin typeface="Courier New" pitchFamily="34" charset="0"/>
                <a:ea typeface="Courier New" pitchFamily="34" charset="-122"/>
                <a:cs typeface="Courier New" pitchFamily="34" charset="-120"/>
              </a:rPr>
              <a:t>D-0001  MUM-&gt;PUN  MED-KIT  200  HE-01  PLANNED</a:t>
            </a:r>
            <a:endParaRPr lang="en-US" sz="1400" dirty="0"/>
          </a:p>
        </p:txBody>
      </p:sp>
      <p:sp>
        <p:nvSpPr>
          <p:cNvPr id="11" name="Text 9"/>
          <p:cNvSpPr txBox="1"/>
          <p:nvPr/>
        </p:nvSpPr>
        <p:spPr>
          <a:xfrm>
            <a:off x="822960" y="2907792"/>
            <a:ext cx="4754880" cy="365760"/>
          </a:xfrm>
          <a:prstGeom prst="rect">
            <a:avLst/>
          </a:prstGeom>
          <a:noFill/>
          <a:ln/>
        </p:spPr>
        <p:txBody>
          <a:bodyPr wrap="square" lIns="0" tIns="0" rIns="0" bIns="0" rtlCol="0" anchor="ctr"/>
          <a:lstStyle/>
          <a:p>
            <a:pPr indent="0" marL="0">
              <a:buNone/>
            </a:pPr>
            <a:r>
              <a:rPr lang="en-US" sz="1400" dirty="0">
                <a:solidFill>
                  <a:srgbClr val="F2A33A"/>
                </a:solidFill>
                <a:latin typeface="Courier New" pitchFamily="34" charset="0"/>
                <a:ea typeface="Courier New" pitchFamily="34" charset="-122"/>
                <a:cs typeface="Courier New" pitchFamily="34" charset="-120"/>
              </a:rPr>
              <a:t>&gt; DLV DISPATCH D-0001</a:t>
            </a:r>
            <a:endParaRPr lang="en-US" sz="1400" dirty="0"/>
          </a:p>
        </p:txBody>
      </p:sp>
      <p:sp>
        <p:nvSpPr>
          <p:cNvPr id="12" name="Text 10"/>
          <p:cNvSpPr txBox="1"/>
          <p:nvPr/>
        </p:nvSpPr>
        <p:spPr>
          <a:xfrm>
            <a:off x="5669280" y="2907792"/>
            <a:ext cx="5852160" cy="365760"/>
          </a:xfrm>
          <a:prstGeom prst="rect">
            <a:avLst/>
          </a:prstGeom>
          <a:noFill/>
          <a:ln/>
        </p:spPr>
        <p:txBody>
          <a:bodyPr wrap="square" lIns="0" tIns="0" rIns="0" bIns="0" rtlCol="0" anchor="ctr"/>
          <a:lstStyle/>
          <a:p>
            <a:pPr indent="0" marL="0">
              <a:buNone/>
            </a:pPr>
            <a:r>
              <a:rPr lang="en-US" sz="1400" dirty="0">
                <a:solidFill>
                  <a:srgbClr val="E7EDF6"/>
                </a:solidFill>
                <a:latin typeface="Courier New" pitchFamily="34" charset="0"/>
                <a:ea typeface="Courier New" pitchFamily="34" charset="-122"/>
                <a:cs typeface="Courier New" pitchFamily="34" charset="-120"/>
              </a:rPr>
              <a:t>Delivery D-0001 in transit, ETA DAY 00 01:00</a:t>
            </a:r>
            <a:endParaRPr lang="en-US" sz="1400" dirty="0"/>
          </a:p>
        </p:txBody>
      </p:sp>
      <p:sp>
        <p:nvSpPr>
          <p:cNvPr id="13" name="Text 11"/>
          <p:cNvSpPr txBox="1"/>
          <p:nvPr/>
        </p:nvSpPr>
        <p:spPr>
          <a:xfrm>
            <a:off x="822960" y="3328416"/>
            <a:ext cx="4754880" cy="365760"/>
          </a:xfrm>
          <a:prstGeom prst="rect">
            <a:avLst/>
          </a:prstGeom>
          <a:noFill/>
          <a:ln/>
        </p:spPr>
        <p:txBody>
          <a:bodyPr wrap="square" lIns="0" tIns="0" rIns="0" bIns="0" rtlCol="0" anchor="ctr"/>
          <a:lstStyle/>
          <a:p>
            <a:pPr indent="0" marL="0">
              <a:buNone/>
            </a:pPr>
            <a:r>
              <a:rPr lang="en-US" sz="1400" dirty="0">
                <a:solidFill>
                  <a:srgbClr val="F2A33A"/>
                </a:solidFill>
                <a:latin typeface="Courier New" pitchFamily="34" charset="0"/>
                <a:ea typeface="Courier New" pitchFamily="34" charset="-122"/>
                <a:cs typeface="Courier New" pitchFamily="34" charset="-120"/>
              </a:rPr>
              <a:t>&gt; TICK 12</a:t>
            </a:r>
            <a:endParaRPr lang="en-US" sz="1400" dirty="0"/>
          </a:p>
        </p:txBody>
      </p:sp>
      <p:sp>
        <p:nvSpPr>
          <p:cNvPr id="14" name="Text 12"/>
          <p:cNvSpPr txBox="1"/>
          <p:nvPr/>
        </p:nvSpPr>
        <p:spPr>
          <a:xfrm>
            <a:off x="5669280" y="3328416"/>
            <a:ext cx="5852160" cy="365760"/>
          </a:xfrm>
          <a:prstGeom prst="rect">
            <a:avLst/>
          </a:prstGeom>
          <a:noFill/>
          <a:ln/>
        </p:spPr>
        <p:txBody>
          <a:bodyPr wrap="square" lIns="0" tIns="0" rIns="0" bIns="0" rtlCol="0" anchor="ctr"/>
          <a:lstStyle/>
          <a:p>
            <a:pPr indent="0" marL="0">
              <a:buNone/>
            </a:pPr>
            <a:r>
              <a:rPr lang="en-US" sz="1400" dirty="0">
                <a:solidFill>
                  <a:srgbClr val="E7EDF6"/>
                </a:solidFill>
                <a:latin typeface="Courier New" pitchFamily="34" charset="0"/>
                <a:ea typeface="Courier New" pitchFamily="34" charset="-122"/>
                <a:cs typeface="Courier New" pitchFamily="34" charset="-120"/>
              </a:rPr>
              <a:t>D-0001 DELIVERED · 1 delivery arrived</a:t>
            </a:r>
            <a:endParaRPr lang="en-US" sz="1400" dirty="0"/>
          </a:p>
        </p:txBody>
      </p:sp>
      <p:sp>
        <p:nvSpPr>
          <p:cNvPr id="15" name="Text 13"/>
          <p:cNvSpPr txBox="1"/>
          <p:nvPr/>
        </p:nvSpPr>
        <p:spPr>
          <a:xfrm>
            <a:off x="822960" y="3749040"/>
            <a:ext cx="4754880" cy="365760"/>
          </a:xfrm>
          <a:prstGeom prst="rect">
            <a:avLst/>
          </a:prstGeom>
          <a:noFill/>
          <a:ln/>
        </p:spPr>
        <p:txBody>
          <a:bodyPr wrap="square" lIns="0" tIns="0" rIns="0" bIns="0" rtlCol="0" anchor="ctr"/>
          <a:lstStyle/>
          <a:p>
            <a:pPr indent="0" marL="0">
              <a:buNone/>
            </a:pPr>
            <a:r>
              <a:rPr lang="en-US" sz="1400" dirty="0">
                <a:solidFill>
                  <a:srgbClr val="F2A33A"/>
                </a:solidFill>
                <a:latin typeface="Courier New" pitchFamily="34" charset="0"/>
                <a:ea typeface="Courier New" pitchFamily="34" charset="-122"/>
                <a:cs typeface="Courier New" pitchFamily="34" charset="-120"/>
              </a:rPr>
              <a:t>&gt; RPT KPI</a:t>
            </a:r>
            <a:endParaRPr lang="en-US" sz="1400" dirty="0"/>
          </a:p>
        </p:txBody>
      </p:sp>
      <p:sp>
        <p:nvSpPr>
          <p:cNvPr id="16" name="Text 14"/>
          <p:cNvSpPr txBox="1"/>
          <p:nvPr/>
        </p:nvSpPr>
        <p:spPr>
          <a:xfrm>
            <a:off x="5669280" y="3749040"/>
            <a:ext cx="5852160" cy="365760"/>
          </a:xfrm>
          <a:prstGeom prst="rect">
            <a:avLst/>
          </a:prstGeom>
          <a:noFill/>
          <a:ln/>
        </p:spPr>
        <p:txBody>
          <a:bodyPr wrap="square" lIns="0" tIns="0" rIns="0" bIns="0" rtlCol="0" anchor="ctr"/>
          <a:lstStyle/>
          <a:p>
            <a:pPr indent="0" marL="0">
              <a:buNone/>
            </a:pPr>
            <a:r>
              <a:rPr lang="en-US" sz="1400" dirty="0">
                <a:solidFill>
                  <a:srgbClr val="E7EDF6"/>
                </a:solidFill>
                <a:latin typeface="Courier New" pitchFamily="34" charset="0"/>
                <a:ea typeface="Courier New" pitchFamily="34" charset="-122"/>
                <a:cs typeface="Courier New" pitchFamily="34" charset="-120"/>
              </a:rPr>
              <a:t>Fulfilment rate 100.0% · Avg lead time 1.0 h</a:t>
            </a:r>
            <a:endParaRPr lang="en-US" sz="1400" dirty="0"/>
          </a:p>
        </p:txBody>
      </p:sp>
      <p:sp>
        <p:nvSpPr>
          <p:cNvPr id="17" name="Step card"/>
          <p:cNvSpPr/>
          <p:nvPr/>
        </p:nvSpPr>
        <p:spPr>
          <a:xfrm>
            <a:off x="548640" y="4480560"/>
            <a:ext cx="3593592" cy="1417320"/>
          </a:xfrm>
          <a:prstGeom prst="rect">
            <a:avLst/>
          </a:prstGeom>
          <a:solidFill>
            <a:srgbClr val="1C2C45"/>
          </a:solidFill>
          <a:ln/>
        </p:spPr>
      </p:sp>
      <p:sp>
        <p:nvSpPr>
          <p:cNvPr id="18" name="Text 16"/>
          <p:cNvSpPr txBox="1"/>
          <p:nvPr/>
        </p:nvSpPr>
        <p:spPr>
          <a:xfrm>
            <a:off x="731520" y="4572000"/>
            <a:ext cx="3200400" cy="292608"/>
          </a:xfrm>
          <a:prstGeom prst="rect">
            <a:avLst/>
          </a:prstGeom>
          <a:noFill/>
          <a:ln/>
        </p:spPr>
        <p:txBody>
          <a:bodyPr wrap="square" lIns="0" tIns="0" rIns="0" bIns="0" rtlCol="0" anchor="ctr"/>
          <a:lstStyle/>
          <a:p>
            <a:pPr indent="0" marL="0">
              <a:buNone/>
            </a:pPr>
            <a:r>
              <a:rPr lang="en-US" sz="1400" b="1" dirty="0">
                <a:solidFill>
                  <a:schemeClr val="accent2"/>
                </a:solidFill>
              </a:rPr>
              <a:t>1 · Request</a:t>
            </a:r>
            <a:endParaRPr lang="en-US" sz="1400" dirty="0"/>
          </a:p>
        </p:txBody>
      </p:sp>
      <p:sp>
        <p:nvSpPr>
          <p:cNvPr id="19" name="Text 17"/>
          <p:cNvSpPr txBox="1"/>
          <p:nvPr/>
        </p:nvSpPr>
        <p:spPr>
          <a:xfrm>
            <a:off x="731520" y="4901184"/>
            <a:ext cx="3246120" cy="914400"/>
          </a:xfrm>
          <a:prstGeom prst="rect">
            <a:avLst/>
          </a:prstGeom>
          <a:noFill/>
          <a:ln/>
        </p:spPr>
        <p:txBody>
          <a:bodyPr wrap="square" lIns="0" tIns="0" rIns="0" bIns="0" rtlCol="0" anchor="t"/>
          <a:lstStyle/>
          <a:p>
            <a:pPr indent="0" marL="0">
              <a:buNone/>
            </a:pPr>
            <a:r>
              <a:rPr lang="en-US" sz="1400" dirty="0">
                <a:solidFill>
                  <a:schemeClr val="bg1"/>
                </a:solidFill>
              </a:rPr>
              <a:t>Pune asks for 200 medical kits. A commander approves it.</a:t>
            </a:r>
            <a:endParaRPr lang="en-US" sz="1400" dirty="0"/>
          </a:p>
        </p:txBody>
      </p:sp>
      <p:sp>
        <p:nvSpPr>
          <p:cNvPr id="20" name="Step card"/>
          <p:cNvSpPr/>
          <p:nvPr/>
        </p:nvSpPr>
        <p:spPr>
          <a:xfrm>
            <a:off x="4297680" y="4480560"/>
            <a:ext cx="3593592" cy="1417320"/>
          </a:xfrm>
          <a:prstGeom prst="rect">
            <a:avLst/>
          </a:prstGeom>
          <a:solidFill>
            <a:srgbClr val="1C2C45"/>
          </a:solidFill>
          <a:ln/>
        </p:spPr>
      </p:sp>
      <p:sp>
        <p:nvSpPr>
          <p:cNvPr id="21" name="Text 19"/>
          <p:cNvSpPr txBox="1"/>
          <p:nvPr/>
        </p:nvSpPr>
        <p:spPr>
          <a:xfrm>
            <a:off x="4480560" y="4572000"/>
            <a:ext cx="3200400" cy="292608"/>
          </a:xfrm>
          <a:prstGeom prst="rect">
            <a:avLst/>
          </a:prstGeom>
          <a:noFill/>
          <a:ln/>
        </p:spPr>
        <p:txBody>
          <a:bodyPr wrap="square" lIns="0" tIns="0" rIns="0" bIns="0" rtlCol="0" anchor="ctr"/>
          <a:lstStyle/>
          <a:p>
            <a:pPr indent="0" marL="0">
              <a:buNone/>
            </a:pPr>
            <a:r>
              <a:rPr lang="en-US" sz="1400" b="1" dirty="0">
                <a:solidFill>
                  <a:schemeClr val="accent2"/>
                </a:solidFill>
              </a:rPr>
              <a:t>2 · Plan and ship</a:t>
            </a:r>
            <a:endParaRPr lang="en-US" sz="1400" dirty="0"/>
          </a:p>
        </p:txBody>
      </p:sp>
      <p:sp>
        <p:nvSpPr>
          <p:cNvPr id="22" name="Text 20"/>
          <p:cNvSpPr txBox="1"/>
          <p:nvPr/>
        </p:nvSpPr>
        <p:spPr>
          <a:xfrm>
            <a:off x="4480560" y="4901184"/>
            <a:ext cx="3246120" cy="914400"/>
          </a:xfrm>
          <a:prstGeom prst="rect">
            <a:avLst/>
          </a:prstGeom>
          <a:noFill/>
          <a:ln/>
        </p:spPr>
        <p:txBody>
          <a:bodyPr wrap="square" lIns="0" tIns="0" rIns="0" bIns="0" rtlCol="0" anchor="t"/>
          <a:lstStyle/>
          <a:p>
            <a:pPr indent="0" marL="0">
              <a:buNone/>
            </a:pPr>
            <a:r>
              <a:rPr lang="en-US" sz="1400" dirty="0">
                <a:solidFill>
                  <a:schemeClr val="bg1"/>
                </a:solidFill>
              </a:rPr>
              <a:t>The rules pick Mumbai and helicopter HE-01. Stock is reserved, then it leaves.</a:t>
            </a:r>
            <a:endParaRPr lang="en-US" sz="1400" dirty="0"/>
          </a:p>
        </p:txBody>
      </p:sp>
      <p:sp>
        <p:nvSpPr>
          <p:cNvPr id="23" name="Step card"/>
          <p:cNvSpPr/>
          <p:nvPr/>
        </p:nvSpPr>
        <p:spPr>
          <a:xfrm>
            <a:off x="8046720" y="4480560"/>
            <a:ext cx="3593592" cy="1417320"/>
          </a:xfrm>
          <a:prstGeom prst="rect">
            <a:avLst/>
          </a:prstGeom>
          <a:solidFill>
            <a:srgbClr val="1C2C45"/>
          </a:solidFill>
          <a:ln/>
        </p:spPr>
      </p:sp>
      <p:sp>
        <p:nvSpPr>
          <p:cNvPr id="24" name="Text 22"/>
          <p:cNvSpPr txBox="1"/>
          <p:nvPr/>
        </p:nvSpPr>
        <p:spPr>
          <a:xfrm>
            <a:off x="8229600" y="4572000"/>
            <a:ext cx="3200400" cy="292608"/>
          </a:xfrm>
          <a:prstGeom prst="rect">
            <a:avLst/>
          </a:prstGeom>
          <a:noFill/>
          <a:ln/>
        </p:spPr>
        <p:txBody>
          <a:bodyPr wrap="square" lIns="0" tIns="0" rIns="0" bIns="0" rtlCol="0" anchor="ctr"/>
          <a:lstStyle/>
          <a:p>
            <a:pPr indent="0" marL="0">
              <a:buNone/>
            </a:pPr>
            <a:r>
              <a:rPr lang="en-US" sz="1400" b="1" dirty="0">
                <a:solidFill>
                  <a:schemeClr val="accent2"/>
                </a:solidFill>
              </a:rPr>
              <a:t>3 · Time and report</a:t>
            </a:r>
            <a:endParaRPr lang="en-US" sz="1400" dirty="0"/>
          </a:p>
        </p:txBody>
      </p:sp>
      <p:sp>
        <p:nvSpPr>
          <p:cNvPr id="25" name="Text 23"/>
          <p:cNvSpPr txBox="1"/>
          <p:nvPr/>
        </p:nvSpPr>
        <p:spPr>
          <a:xfrm>
            <a:off x="8229600" y="4901184"/>
            <a:ext cx="3246120" cy="914400"/>
          </a:xfrm>
          <a:prstGeom prst="rect">
            <a:avLst/>
          </a:prstGeom>
          <a:noFill/>
          <a:ln/>
        </p:spPr>
        <p:txBody>
          <a:bodyPr wrap="square" lIns="0" tIns="0" rIns="0" bIns="0" rtlCol="0" anchor="t"/>
          <a:lstStyle/>
          <a:p>
            <a:pPr indent="0" marL="0">
              <a:buNone/>
            </a:pPr>
            <a:r>
              <a:rPr lang="en-US" sz="1400" dirty="0">
                <a:solidFill>
                  <a:schemeClr val="bg1"/>
                </a:solidFill>
              </a:rPr>
              <a:t>Time only moves on TICK. The KPI table shows the result.</a:t>
            </a:r>
            <a:endParaRPr lang="en-US" sz="1400" dirty="0"/>
          </a:p>
        </p:txBody>
      </p:sp>
      <p:sp>
        <p:nvSpPr>
          <p:cNvPr id="26" name="Source"/>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chemeClr val="accent5"/>
                </a:solidFill>
              </a:rPr>
              <a:t>Captured from java -jar dlscms.jar on the small dataset · run.bat starts it, run.bat --demo auto-plays it · docs/demo_script.md</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292608"/>
            <a:ext cx="10058400" cy="256032"/>
          </a:xfrm>
          <a:prstGeom prst="rect">
            <a:avLst/>
          </a:prstGeom>
          <a:noFill/>
          <a:ln/>
        </p:spPr>
        <p:txBody>
          <a:bodyPr wrap="square" lIns="0" tIns="0" rIns="0" bIns="0" rtlCol="0" anchor="ctr"/>
          <a:lstStyle/>
          <a:p>
            <a:pPr indent="0" marL="0">
              <a:buNone/>
            </a:pPr>
            <a:r>
              <a:rPr lang="en-US" sz="1100" b="1" spc="300" kern="0" dirty="0">
                <a:solidFill>
                  <a:srgbClr val="F2A33A"/>
                </a:solidFill>
              </a:rPr>
              <a:t>THE PROOF</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bg1"/>
                </a:solidFill>
              </a:rPr>
              <a:t>How we know it works</a:t>
            </a:r>
            <a:endParaRPr lang="en-US" sz="3200" dirty="0"/>
          </a:p>
        </p:txBody>
      </p:sp>
      <p:sp>
        <p:nvSpPr>
          <p:cNvPr id="4" name="Stat card"/>
          <p:cNvSpPr/>
          <p:nvPr/>
        </p:nvSpPr>
        <p:spPr>
          <a:xfrm>
            <a:off x="548640" y="1554480"/>
            <a:ext cx="5449824" cy="1920240"/>
          </a:xfrm>
          <a:prstGeom prst="rect">
            <a:avLst/>
          </a:prstGeom>
          <a:solidFill>
            <a:srgbClr val="1C2C45"/>
          </a:solidFill>
          <a:ln/>
        </p:spPr>
      </p:sp>
      <p:sp>
        <p:nvSpPr>
          <p:cNvPr id="5" name="Text 3"/>
          <p:cNvSpPr txBox="1"/>
          <p:nvPr/>
        </p:nvSpPr>
        <p:spPr>
          <a:xfrm>
            <a:off x="822960" y="1691640"/>
            <a:ext cx="4846320" cy="274320"/>
          </a:xfrm>
          <a:prstGeom prst="rect">
            <a:avLst/>
          </a:prstGeom>
          <a:noFill/>
          <a:ln/>
        </p:spPr>
        <p:txBody>
          <a:bodyPr wrap="square" lIns="0" tIns="0" rIns="0" bIns="0" rtlCol="0" anchor="ctr"/>
          <a:lstStyle/>
          <a:p>
            <a:pPr indent="0" marL="0">
              <a:buNone/>
            </a:pPr>
            <a:r>
              <a:rPr lang="en-US" sz="1200" i="1" dirty="0">
                <a:solidFill>
                  <a:srgbClr val="9FB0C8"/>
                </a:solidFill>
              </a:rPr>
              <a:t>tests</a:t>
            </a:r>
            <a:endParaRPr lang="en-US" sz="1200" dirty="0"/>
          </a:p>
        </p:txBody>
      </p:sp>
      <p:sp>
        <p:nvSpPr>
          <p:cNvPr id="6" name="Text 4"/>
          <p:cNvSpPr txBox="1"/>
          <p:nvPr/>
        </p:nvSpPr>
        <p:spPr>
          <a:xfrm>
            <a:off x="822960" y="1965960"/>
            <a:ext cx="4846320" cy="731520"/>
          </a:xfrm>
          <a:prstGeom prst="rect">
            <a:avLst/>
          </a:prstGeom>
          <a:noFill/>
          <a:ln/>
        </p:spPr>
        <p:txBody>
          <a:bodyPr wrap="square" lIns="0" tIns="0" rIns="0" bIns="0" rtlCol="0" anchor="ctr"/>
          <a:lstStyle/>
          <a:p>
            <a:pPr indent="0" marL="0">
              <a:buNone/>
            </a:pPr>
            <a:r>
              <a:rPr lang="en-US" sz="4000" b="1" dirty="0">
                <a:solidFill>
                  <a:schemeClr val="accent2"/>
                </a:solidFill>
              </a:rPr>
              <a:t>119</a:t>
            </a:r>
            <a:endParaRPr lang="en-US" sz="4000" dirty="0"/>
          </a:p>
        </p:txBody>
      </p:sp>
      <p:sp>
        <p:nvSpPr>
          <p:cNvPr id="7" name="Text 5"/>
          <p:cNvSpPr txBox="1"/>
          <p:nvPr/>
        </p:nvSpPr>
        <p:spPr>
          <a:xfrm>
            <a:off x="822960" y="2743200"/>
            <a:ext cx="4846320" cy="640080"/>
          </a:xfrm>
          <a:prstGeom prst="rect">
            <a:avLst/>
          </a:prstGeom>
          <a:noFill/>
          <a:ln/>
        </p:spPr>
        <p:txBody>
          <a:bodyPr wrap="square" lIns="0" tIns="0" rIns="0" bIns="0" rtlCol="0" anchor="t"/>
          <a:lstStyle/>
          <a:p>
            <a:pPr indent="0" marL="0">
              <a:buNone/>
            </a:pPr>
            <a:r>
              <a:rPr lang="en-US" sz="1400" dirty="0">
                <a:solidFill>
                  <a:schemeClr val="bg1"/>
                </a:solidFill>
              </a:rPr>
              <a:t>unit tests, all passing, in 21 test classes</a:t>
            </a:r>
            <a:endParaRPr lang="en-US" sz="1400" dirty="0"/>
          </a:p>
        </p:txBody>
      </p:sp>
      <p:sp>
        <p:nvSpPr>
          <p:cNvPr id="8" name="Stat card"/>
          <p:cNvSpPr/>
          <p:nvPr/>
        </p:nvSpPr>
        <p:spPr>
          <a:xfrm>
            <a:off x="6190488" y="1554480"/>
            <a:ext cx="5449824" cy="1920240"/>
          </a:xfrm>
          <a:prstGeom prst="rect">
            <a:avLst/>
          </a:prstGeom>
          <a:solidFill>
            <a:srgbClr val="1C2C45"/>
          </a:solidFill>
          <a:ln/>
        </p:spPr>
      </p:sp>
      <p:sp>
        <p:nvSpPr>
          <p:cNvPr id="9" name="Text 7"/>
          <p:cNvSpPr txBox="1"/>
          <p:nvPr/>
        </p:nvSpPr>
        <p:spPr>
          <a:xfrm>
            <a:off x="6464808" y="1691640"/>
            <a:ext cx="4846320" cy="274320"/>
          </a:xfrm>
          <a:prstGeom prst="rect">
            <a:avLst/>
          </a:prstGeom>
          <a:noFill/>
          <a:ln/>
        </p:spPr>
        <p:txBody>
          <a:bodyPr wrap="square" lIns="0" tIns="0" rIns="0" bIns="0" rtlCol="0" anchor="ctr"/>
          <a:lstStyle/>
          <a:p>
            <a:pPr indent="0" marL="0">
              <a:buNone/>
            </a:pPr>
            <a:r>
              <a:rPr lang="en-US" sz="1200" i="1" dirty="0">
                <a:solidFill>
                  <a:srgbClr val="9FB0C8"/>
                </a:solidFill>
              </a:rPr>
              <a:t>coverage map</a:t>
            </a:r>
            <a:endParaRPr lang="en-US" sz="1200" dirty="0"/>
          </a:p>
        </p:txBody>
      </p:sp>
      <p:sp>
        <p:nvSpPr>
          <p:cNvPr id="10" name="Text 8"/>
          <p:cNvSpPr txBox="1"/>
          <p:nvPr/>
        </p:nvSpPr>
        <p:spPr>
          <a:xfrm>
            <a:off x="6464808" y="1965960"/>
            <a:ext cx="4846320" cy="731520"/>
          </a:xfrm>
          <a:prstGeom prst="rect">
            <a:avLst/>
          </a:prstGeom>
          <a:noFill/>
          <a:ln/>
        </p:spPr>
        <p:txBody>
          <a:bodyPr wrap="square" lIns="0" tIns="0" rIns="0" bIns="0" rtlCol="0" anchor="ctr"/>
          <a:lstStyle/>
          <a:p>
            <a:pPr indent="0" marL="0">
              <a:buNone/>
            </a:pPr>
            <a:r>
              <a:rPr lang="en-US" sz="4000" b="1" dirty="0">
                <a:solidFill>
                  <a:schemeClr val="accent2"/>
                </a:solidFill>
              </a:rPr>
              <a:t>66 of 66</a:t>
            </a:r>
            <a:endParaRPr lang="en-US" sz="4000" dirty="0"/>
          </a:p>
        </p:txBody>
      </p:sp>
      <p:sp>
        <p:nvSpPr>
          <p:cNvPr id="11" name="Text 9"/>
          <p:cNvSpPr txBox="1"/>
          <p:nvPr/>
        </p:nvSpPr>
        <p:spPr>
          <a:xfrm>
            <a:off x="6464808" y="2743200"/>
            <a:ext cx="4846320" cy="640080"/>
          </a:xfrm>
          <a:prstGeom prst="rect">
            <a:avLst/>
          </a:prstGeom>
          <a:noFill/>
          <a:ln/>
        </p:spPr>
        <p:txBody>
          <a:bodyPr wrap="square" lIns="0" tIns="0" rIns="0" bIns="0" rtlCol="0" anchor="t"/>
          <a:lstStyle/>
          <a:p>
            <a:pPr indent="0" marL="0">
              <a:buNone/>
            </a:pPr>
            <a:r>
              <a:rPr lang="en-US" sz="1400" dirty="0">
                <a:solidFill>
                  <a:schemeClr val="bg1"/>
                </a:solidFill>
              </a:rPr>
              <a:t>classes and types in the code have at least one test</a:t>
            </a:r>
            <a:endParaRPr lang="en-US" sz="1400" dirty="0"/>
          </a:p>
        </p:txBody>
      </p:sp>
      <p:sp>
        <p:nvSpPr>
          <p:cNvPr id="12" name="Stat card"/>
          <p:cNvSpPr/>
          <p:nvPr/>
        </p:nvSpPr>
        <p:spPr>
          <a:xfrm>
            <a:off x="548640" y="3657600"/>
            <a:ext cx="5449824" cy="1920240"/>
          </a:xfrm>
          <a:prstGeom prst="rect">
            <a:avLst/>
          </a:prstGeom>
          <a:solidFill>
            <a:srgbClr val="1C2C45"/>
          </a:solidFill>
          <a:ln/>
        </p:spPr>
      </p:sp>
      <p:sp>
        <p:nvSpPr>
          <p:cNvPr id="13" name="Text 11"/>
          <p:cNvSpPr txBox="1"/>
          <p:nvPr/>
        </p:nvSpPr>
        <p:spPr>
          <a:xfrm>
            <a:off x="822960" y="3794760"/>
            <a:ext cx="4846320" cy="274320"/>
          </a:xfrm>
          <a:prstGeom prst="rect">
            <a:avLst/>
          </a:prstGeom>
          <a:noFill/>
          <a:ln/>
        </p:spPr>
        <p:txBody>
          <a:bodyPr wrap="square" lIns="0" tIns="0" rIns="0" bIns="0" rtlCol="0" anchor="ctr"/>
          <a:lstStyle/>
          <a:p>
            <a:pPr indent="0" marL="0">
              <a:buNone/>
            </a:pPr>
            <a:r>
              <a:rPr lang="en-US" sz="1200" i="1" dirty="0">
                <a:solidFill>
                  <a:srgbClr val="9FB0C8"/>
                </a:solidFill>
              </a:rPr>
              <a:t>experiments</a:t>
            </a:r>
            <a:endParaRPr lang="en-US" sz="1200" dirty="0"/>
          </a:p>
        </p:txBody>
      </p:sp>
      <p:sp>
        <p:nvSpPr>
          <p:cNvPr id="14" name="Text 12"/>
          <p:cNvSpPr txBox="1"/>
          <p:nvPr/>
        </p:nvSpPr>
        <p:spPr>
          <a:xfrm>
            <a:off x="822960" y="4069080"/>
            <a:ext cx="4846320" cy="731520"/>
          </a:xfrm>
          <a:prstGeom prst="rect">
            <a:avLst/>
          </a:prstGeom>
          <a:noFill/>
          <a:ln/>
        </p:spPr>
        <p:txBody>
          <a:bodyPr wrap="square" lIns="0" tIns="0" rIns="0" bIns="0" rtlCol="0" anchor="ctr"/>
          <a:lstStyle/>
          <a:p>
            <a:pPr indent="0" marL="0">
              <a:buNone/>
            </a:pPr>
            <a:r>
              <a:rPr lang="en-US" sz="4000" b="1" dirty="0">
                <a:solidFill>
                  <a:schemeClr val="accent2"/>
                </a:solidFill>
              </a:rPr>
              <a:t>1,080</a:t>
            </a:r>
            <a:endParaRPr lang="en-US" sz="4000" dirty="0"/>
          </a:p>
        </p:txBody>
      </p:sp>
      <p:sp>
        <p:nvSpPr>
          <p:cNvPr id="15" name="Text 13"/>
          <p:cNvSpPr txBox="1"/>
          <p:nvPr/>
        </p:nvSpPr>
        <p:spPr>
          <a:xfrm>
            <a:off x="822960" y="4846320"/>
            <a:ext cx="4846320" cy="640080"/>
          </a:xfrm>
          <a:prstGeom prst="rect">
            <a:avLst/>
          </a:prstGeom>
          <a:noFill/>
          <a:ln/>
        </p:spPr>
        <p:txBody>
          <a:bodyPr wrap="square" lIns="0" tIns="0" rIns="0" bIns="0" rtlCol="0" anchor="t"/>
          <a:lstStyle/>
          <a:p>
            <a:pPr indent="0" marL="0">
              <a:buNone/>
            </a:pPr>
            <a:r>
              <a:rPr lang="en-US" sz="1400" dirty="0">
                <a:solidFill>
                  <a:schemeClr val="bg1"/>
                </a:solidFill>
              </a:rPr>
              <a:t>simulation runs: 3 sizes × 30 random seeds × 12 rule pairs</a:t>
            </a:r>
            <a:endParaRPr lang="en-US" sz="1400" dirty="0"/>
          </a:p>
        </p:txBody>
      </p:sp>
      <p:sp>
        <p:nvSpPr>
          <p:cNvPr id="16" name="Stat card"/>
          <p:cNvSpPr/>
          <p:nvPr/>
        </p:nvSpPr>
        <p:spPr>
          <a:xfrm>
            <a:off x="6190488" y="3657600"/>
            <a:ext cx="5449824" cy="1920240"/>
          </a:xfrm>
          <a:prstGeom prst="rect">
            <a:avLst/>
          </a:prstGeom>
          <a:solidFill>
            <a:srgbClr val="1C2C45"/>
          </a:solidFill>
          <a:ln/>
        </p:spPr>
      </p:sp>
      <p:sp>
        <p:nvSpPr>
          <p:cNvPr id="17" name="Text 15"/>
          <p:cNvSpPr txBox="1"/>
          <p:nvPr/>
        </p:nvSpPr>
        <p:spPr>
          <a:xfrm>
            <a:off x="6464808" y="3794760"/>
            <a:ext cx="4846320" cy="274320"/>
          </a:xfrm>
          <a:prstGeom prst="rect">
            <a:avLst/>
          </a:prstGeom>
          <a:noFill/>
          <a:ln/>
        </p:spPr>
        <p:txBody>
          <a:bodyPr wrap="square" lIns="0" tIns="0" rIns="0" bIns="0" rtlCol="0" anchor="ctr"/>
          <a:lstStyle/>
          <a:p>
            <a:pPr indent="0" marL="0">
              <a:buNone/>
            </a:pPr>
            <a:r>
              <a:rPr lang="en-US" sz="1200" i="1" dirty="0">
                <a:solidFill>
                  <a:srgbClr val="9FB0C8"/>
                </a:solidFill>
              </a:rPr>
              <a:t>statistics</a:t>
            </a:r>
            <a:endParaRPr lang="en-US" sz="1200" dirty="0"/>
          </a:p>
        </p:txBody>
      </p:sp>
      <p:sp>
        <p:nvSpPr>
          <p:cNvPr id="18" name="Text 16"/>
          <p:cNvSpPr txBox="1"/>
          <p:nvPr/>
        </p:nvSpPr>
        <p:spPr>
          <a:xfrm>
            <a:off x="6464808" y="4069080"/>
            <a:ext cx="4846320" cy="731520"/>
          </a:xfrm>
          <a:prstGeom prst="rect">
            <a:avLst/>
          </a:prstGeom>
          <a:noFill/>
          <a:ln/>
        </p:spPr>
        <p:txBody>
          <a:bodyPr wrap="square" lIns="0" tIns="0" rIns="0" bIns="0" rtlCol="0" anchor="ctr"/>
          <a:lstStyle/>
          <a:p>
            <a:pPr indent="0" marL="0">
              <a:buNone/>
            </a:pPr>
            <a:r>
              <a:rPr lang="en-US" sz="4000" b="1" dirty="0">
                <a:solidFill>
                  <a:schemeClr val="accent2"/>
                </a:solidFill>
              </a:rPr>
              <a:t>74 of 93</a:t>
            </a:r>
            <a:endParaRPr lang="en-US" sz="4000" dirty="0"/>
          </a:p>
        </p:txBody>
      </p:sp>
      <p:sp>
        <p:nvSpPr>
          <p:cNvPr id="19" name="Text 17"/>
          <p:cNvSpPr txBox="1"/>
          <p:nvPr/>
        </p:nvSpPr>
        <p:spPr>
          <a:xfrm>
            <a:off x="6464808" y="4846320"/>
            <a:ext cx="4846320" cy="640080"/>
          </a:xfrm>
          <a:prstGeom prst="rect">
            <a:avLst/>
          </a:prstGeom>
          <a:noFill/>
          <a:ln/>
        </p:spPr>
        <p:txBody>
          <a:bodyPr wrap="square" lIns="0" tIns="0" rIns="0" bIns="0" rtlCol="0" anchor="t"/>
          <a:lstStyle/>
          <a:p>
            <a:pPr indent="0" marL="0">
              <a:buNone/>
            </a:pPr>
            <a:r>
              <a:rPr lang="en-US" sz="1400" dirty="0">
                <a:solidFill>
                  <a:schemeClr val="bg1"/>
                </a:solidFill>
              </a:rPr>
              <a:t>paired comparisons still significant after Holm correction for multiple tests</a:t>
            </a:r>
            <a:endParaRPr lang="en-US" sz="1400" dirty="0"/>
          </a:p>
        </p:txBody>
      </p:sp>
      <p:sp>
        <p:nvSpPr>
          <p:cNvPr id="20" name="Text 18"/>
          <p:cNvSpPr txBox="1"/>
          <p:nvPr/>
        </p:nvSpPr>
        <p:spPr>
          <a:xfrm>
            <a:off x="548640" y="5806440"/>
            <a:ext cx="11064240" cy="365760"/>
          </a:xfrm>
          <a:prstGeom prst="rect">
            <a:avLst/>
          </a:prstGeom>
          <a:noFill/>
          <a:ln/>
        </p:spPr>
        <p:txBody>
          <a:bodyPr wrap="square" lIns="0" tIns="0" rIns="0" bIns="0" rtlCol="0" anchor="ctr"/>
          <a:lstStyle/>
          <a:p>
            <a:pPr indent="0" marL="0">
              <a:buNone/>
            </a:pPr>
            <a:r>
              <a:rPr lang="en-US" sz="1400" dirty="0">
                <a:solidFill>
                  <a:schemeClr val="bg1"/>
                </a:solidFill>
              </a:rPr>
              <a:t>Every experiment is reproducible: the same seed always gives the same result (scripts/check_repro.sh).</a:t>
            </a:r>
            <a:endParaRPr lang="en-US" sz="1400" dirty="0"/>
          </a:p>
        </p:txBody>
      </p:sp>
      <p:sp>
        <p:nvSpPr>
          <p:cNvPr id="21" name="Source"/>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chemeClr val="accent5"/>
                </a:solidFill>
              </a:rPr>
              <a:t>Source: results/test_matrix.csv, results/stats.txt, scripts/run_experiments.sh · 93 tests form one family; 81 are below 0.05 uncorrected</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292608"/>
            <a:ext cx="10058400" cy="256032"/>
          </a:xfrm>
          <a:prstGeom prst="rect">
            <a:avLst/>
          </a:prstGeom>
          <a:noFill/>
          <a:ln/>
        </p:spPr>
        <p:txBody>
          <a:bodyPr wrap="square" lIns="0" tIns="0" rIns="0" bIns="0" rtlCol="0" anchor="ctr"/>
          <a:lstStyle/>
          <a:p>
            <a:pPr indent="0" marL="0">
              <a:buNone/>
            </a:pPr>
            <a:r>
              <a:rPr lang="en-US" sz="1100" b="1" spc="300" kern="0" dirty="0">
                <a:solidFill>
                  <a:schemeClr val="accent1"/>
                </a:solidFill>
              </a:rPr>
              <a:t>WHAT WE LEARNED</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Coordination wins, and BALANCED is fastest</a:t>
            </a:r>
            <a:endParaRPr lang="en-US" sz="3200" dirty="0"/>
          </a:p>
        </p:txBody>
      </p:sp>
      <p:sp>
        <p:nvSpPr>
          <p:cNvPr id="4" name="Card"/>
          <p:cNvSpPr/>
          <p:nvPr/>
        </p:nvSpPr>
        <p:spPr>
          <a:xfrm>
            <a:off x="548640" y="1481328"/>
            <a:ext cx="6492240" cy="4617720"/>
          </a:xfrm>
          <a:prstGeom prst="rect">
            <a:avLst/>
          </a:prstGeom>
          <a:solidFill>
            <a:schemeClr val="bg1"/>
          </a:solidFill>
          <a:ln/>
          <a:effectLst>
            <a:outerShdw sx="100000" sy="100000" kx="0" ky="0" algn="bl" rotWithShape="0" blurRad="101600" dist="25400" dir="5400000">
              <a:srgbClr val="000000">
                <a:alpha val="12000"/>
              </a:srgbClr>
            </a:outerShdw>
          </a:effectLst>
        </p:spPr>
      </p:sp>
      <p:graphicFrame>
        <p:nvGraphicFramePr>
          <p:cNvPr id="5" name="Chart 0" descr=""/>
          <p:cNvGraphicFramePr/>
          <p:nvPr/>
        </p:nvGraphicFramePr>
        <p:xfrm>
          <a:off x="685800" y="1600200"/>
          <a:ext cx="6217920" cy="39776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31520" y="5623560"/>
            <a:ext cx="6126480" cy="411480"/>
          </a:xfrm>
          <a:prstGeom prst="rect">
            <a:avLst/>
          </a:prstGeom>
          <a:noFill/>
          <a:ln/>
        </p:spPr>
        <p:txBody>
          <a:bodyPr wrap="square" lIns="0" tIns="0" rIns="0" bIns="0" rtlCol="0" anchor="t"/>
          <a:lstStyle/>
          <a:p>
            <a:pPr indent="0" marL="0">
              <a:buNone/>
            </a:pPr>
            <a:r>
              <a:rPr lang="en-US" sz="1100" i="1" dirty="0">
                <a:solidFill>
                  <a:schemeClr val="accent5"/>
                </a:solidFill>
              </a:rPr>
              <a:t>Vehicle rule FASTEST · dataset sizes: 40, 200 and 1,000 requests. Bars are means over 30 seeds.</a:t>
            </a:r>
            <a:endParaRPr lang="en-US" sz="1100" dirty="0"/>
          </a:p>
        </p:txBody>
      </p:sp>
      <p:sp>
        <p:nvSpPr>
          <p:cNvPr id="7" name="Card"/>
          <p:cNvSpPr/>
          <p:nvPr/>
        </p:nvSpPr>
        <p:spPr>
          <a:xfrm>
            <a:off x="7269480" y="1481328"/>
            <a:ext cx="4370832" cy="1417320"/>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8" name="Text 5"/>
          <p:cNvSpPr txBox="1"/>
          <p:nvPr/>
        </p:nvSpPr>
        <p:spPr>
          <a:xfrm>
            <a:off x="7498080" y="1591056"/>
            <a:ext cx="3913632" cy="640080"/>
          </a:xfrm>
          <a:prstGeom prst="rect">
            <a:avLst/>
          </a:prstGeom>
          <a:noFill/>
          <a:ln/>
        </p:spPr>
        <p:txBody>
          <a:bodyPr wrap="square" lIns="0" tIns="0" rIns="0" bIns="0" rtlCol="0" anchor="ctr"/>
          <a:lstStyle/>
          <a:p>
            <a:pPr indent="0" marL="0">
              <a:buNone/>
            </a:pPr>
            <a:r>
              <a:rPr lang="en-US" sz="3400" b="1" dirty="0">
                <a:solidFill>
                  <a:schemeClr val="accent1"/>
                </a:solidFill>
              </a:rPr>
              <a:t>−6.3 h</a:t>
            </a:r>
            <a:endParaRPr lang="en-US" sz="3400" dirty="0"/>
          </a:p>
        </p:txBody>
      </p:sp>
      <p:sp>
        <p:nvSpPr>
          <p:cNvPr id="9" name="Text 6"/>
          <p:cNvSpPr txBox="1"/>
          <p:nvPr/>
        </p:nvSpPr>
        <p:spPr>
          <a:xfrm>
            <a:off x="7498080" y="2231136"/>
            <a:ext cx="3913632" cy="576072"/>
          </a:xfrm>
          <a:prstGeom prst="rect">
            <a:avLst/>
          </a:prstGeom>
          <a:noFill/>
          <a:ln/>
        </p:spPr>
        <p:txBody>
          <a:bodyPr wrap="square" lIns="0" tIns="0" rIns="0" bIns="0" rtlCol="0" anchor="t"/>
          <a:lstStyle/>
          <a:p>
            <a:pPr indent="0" marL="0">
              <a:buNone/>
            </a:pPr>
            <a:r>
              <a:rPr lang="en-US" sz="1400" dirty="0">
                <a:solidFill>
                  <a:schemeClr val="tx1"/>
                </a:solidFill>
              </a:rPr>
              <a:t>BALANCED beats NEAREST on the large dataset (34.8 h down to 28.4 h)</a:t>
            </a:r>
            <a:endParaRPr lang="en-US" sz="1400" dirty="0"/>
          </a:p>
        </p:txBody>
      </p:sp>
      <p:sp>
        <p:nvSpPr>
          <p:cNvPr id="10" name="Card"/>
          <p:cNvSpPr/>
          <p:nvPr/>
        </p:nvSpPr>
        <p:spPr>
          <a:xfrm>
            <a:off x="7269480" y="3017520"/>
            <a:ext cx="4370832" cy="1417320"/>
          </a:xfrm>
          <a:prstGeom prst="rect">
            <a:avLst/>
          </a:prstGeom>
          <a:solidFill>
            <a:schemeClr val="bg1"/>
          </a:solidFill>
          <a:ln/>
          <a:effectLst>
            <a:outerShdw sx="100000" sy="100000" kx="0" ky="0" algn="bl" rotWithShape="0" blurRad="101600" dist="25400" dir="5400000">
              <a:srgbClr val="000000">
                <a:alpha val="12000"/>
              </a:srgbClr>
            </a:outerShdw>
          </a:effectLst>
        </p:spPr>
      </p:sp>
      <p:sp>
        <p:nvSpPr>
          <p:cNvPr id="11" name="Text 8"/>
          <p:cNvSpPr txBox="1"/>
          <p:nvPr/>
        </p:nvSpPr>
        <p:spPr>
          <a:xfrm>
            <a:off x="7498080" y="3127248"/>
            <a:ext cx="3913632" cy="640080"/>
          </a:xfrm>
          <a:prstGeom prst="rect">
            <a:avLst/>
          </a:prstGeom>
          <a:noFill/>
          <a:ln/>
        </p:spPr>
        <p:txBody>
          <a:bodyPr wrap="square" lIns="0" tIns="0" rIns="0" bIns="0" rtlCol="0" anchor="ctr"/>
          <a:lstStyle/>
          <a:p>
            <a:pPr indent="0" marL="0">
              <a:buNone/>
            </a:pPr>
            <a:r>
              <a:rPr lang="en-US" sz="3000" b="1" dirty="0">
                <a:solidFill>
                  <a:schemeClr val="accent1"/>
                </a:solidFill>
              </a:rPr>
              <a:t>84.5 h → 34.8 h</a:t>
            </a:r>
            <a:endParaRPr lang="en-US" sz="3000" dirty="0"/>
          </a:p>
        </p:txBody>
      </p:sp>
      <p:sp>
        <p:nvSpPr>
          <p:cNvPr id="12" name="Text 9"/>
          <p:cNvSpPr txBox="1"/>
          <p:nvPr/>
        </p:nvSpPr>
        <p:spPr>
          <a:xfrm>
            <a:off x="7498080" y="3767328"/>
            <a:ext cx="3913632" cy="576072"/>
          </a:xfrm>
          <a:prstGeom prst="rect">
            <a:avLst/>
          </a:prstGeom>
          <a:noFill/>
          <a:ln/>
        </p:spPr>
        <p:txBody>
          <a:bodyPr wrap="square" lIns="0" tIns="0" rIns="0" bIns="0" rtlCol="0" anchor="t"/>
          <a:lstStyle/>
          <a:p>
            <a:pPr indent="0" marL="0">
              <a:buNone/>
            </a:pPr>
            <a:r>
              <a:rPr lang="en-US" sz="1400" dirty="0">
                <a:solidFill>
                  <a:schemeClr val="tx1"/>
                </a:solidFill>
              </a:rPr>
              <a:t>coordinated rules against a random baseline, large dataset</a:t>
            </a:r>
            <a:endParaRPr lang="en-US" sz="1400" dirty="0"/>
          </a:p>
        </p:txBody>
      </p:sp>
      <p:sp>
        <p:nvSpPr>
          <p:cNvPr id="13" name="Trade-off card"/>
          <p:cNvSpPr/>
          <p:nvPr/>
        </p:nvSpPr>
        <p:spPr>
          <a:xfrm>
            <a:off x="7269480" y="4553712"/>
            <a:ext cx="4370832" cy="1545336"/>
          </a:xfrm>
          <a:prstGeom prst="rect">
            <a:avLst/>
          </a:prstGeom>
          <a:solidFill>
            <a:schemeClr val="tx1"/>
          </a:solidFill>
          <a:ln/>
        </p:spPr>
      </p:sp>
      <p:sp>
        <p:nvSpPr>
          <p:cNvPr id="14" name="Text 11"/>
          <p:cNvSpPr txBox="1"/>
          <p:nvPr/>
        </p:nvSpPr>
        <p:spPr>
          <a:xfrm>
            <a:off x="7498080" y="4645152"/>
            <a:ext cx="3931920" cy="274320"/>
          </a:xfrm>
          <a:prstGeom prst="rect">
            <a:avLst/>
          </a:prstGeom>
          <a:noFill/>
          <a:ln/>
        </p:spPr>
        <p:txBody>
          <a:bodyPr wrap="square" lIns="0" tIns="0" rIns="0" bIns="0" rtlCol="0" anchor="ctr"/>
          <a:lstStyle/>
          <a:p>
            <a:pPr indent="0" marL="0">
              <a:buNone/>
            </a:pPr>
            <a:r>
              <a:rPr lang="en-US" sz="1400" b="1" dirty="0">
                <a:solidFill>
                  <a:schemeClr val="accent2"/>
                </a:solidFill>
              </a:rPr>
              <a:t>The trade-off</a:t>
            </a:r>
            <a:endParaRPr lang="en-US" sz="1400" dirty="0"/>
          </a:p>
        </p:txBody>
      </p:sp>
      <p:sp>
        <p:nvSpPr>
          <p:cNvPr id="15" name="Text 12"/>
          <p:cNvSpPr txBox="1"/>
          <p:nvPr/>
        </p:nvSpPr>
        <p:spPr>
          <a:xfrm>
            <a:off x="7498080" y="4937760"/>
            <a:ext cx="3977640" cy="1097280"/>
          </a:xfrm>
          <a:prstGeom prst="rect">
            <a:avLst/>
          </a:prstGeom>
          <a:noFill/>
          <a:ln/>
        </p:spPr>
        <p:txBody>
          <a:bodyPr wrap="square" lIns="0" tIns="0" rIns="0" bIns="0" rtlCol="0" anchor="t"/>
          <a:lstStyle/>
          <a:p>
            <a:pPr indent="0" marL="0">
              <a:buNone/>
            </a:pPr>
            <a:r>
              <a:rPr lang="en-US" sz="1300" dirty="0">
                <a:solidFill>
                  <a:schemeClr val="bg1"/>
                </a:solidFill>
              </a:rPr>
              <a:t>NEAREST drives the fewest kilometres. BALANCED costs 2.6% more distance but is faster once the network is medium-sized or larger.</a:t>
            </a:r>
            <a:endParaRPr lang="en-US" sz="1300" dirty="0"/>
          </a:p>
        </p:txBody>
      </p:sp>
      <p:sp>
        <p:nvSpPr>
          <p:cNvPr id="16" name="Source"/>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chemeClr val="accent5"/>
                </a:solidFill>
              </a:rPr>
              <a:t>Source: results/summary.csv, results/stats.txt, docs/findings.md (F1, F2, F5) · synthetic data, so the model is tested, not real operations</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292608"/>
            <a:ext cx="10058400" cy="256032"/>
          </a:xfrm>
          <a:prstGeom prst="rect">
            <a:avLst/>
          </a:prstGeom>
          <a:noFill/>
          <a:ln/>
        </p:spPr>
        <p:txBody>
          <a:bodyPr wrap="square" lIns="0" tIns="0" rIns="0" bIns="0" rtlCol="0" anchor="ctr"/>
          <a:lstStyle/>
          <a:p>
            <a:pPr indent="0" marL="0">
              <a:buNone/>
            </a:pPr>
            <a:r>
              <a:rPr lang="en-US" sz="1100" b="1" spc="300" kern="0" dirty="0">
                <a:solidFill>
                  <a:srgbClr val="0E1A2B"/>
                </a:solidFill>
              </a:rPr>
              <a:t>CONCLUSIONS</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A clean design that dispatches well, with honest limits</a:t>
            </a:r>
            <a:endParaRPr lang="en-US" sz="3200" dirty="0"/>
          </a:p>
        </p:txBody>
      </p:sp>
      <p:sp>
        <p:nvSpPr>
          <p:cNvPr id="4" name="Card"/>
          <p:cNvSpPr/>
          <p:nvPr/>
        </p:nvSpPr>
        <p:spPr>
          <a:xfrm>
            <a:off x="548640" y="1481328"/>
            <a:ext cx="3593592" cy="3017520"/>
          </a:xfrm>
          <a:prstGeom prst="rect">
            <a:avLst/>
          </a:prstGeom>
          <a:solidFill>
            <a:srgbClr val="FFF4E0"/>
          </a:solidFill>
          <a:ln/>
          <a:effectLst>
            <a:outerShdw sx="100000" sy="100000" kx="0" ky="0" algn="bl" rotWithShape="0" blurRad="101600" dist="25400" dir="5400000">
              <a:srgbClr val="000000">
                <a:alpha val="12000"/>
              </a:srgbClr>
            </a:outerShdw>
          </a:effectLst>
        </p:spPr>
      </p:sp>
      <p:sp>
        <p:nvSpPr>
          <p:cNvPr id="5" name="Text 3"/>
          <p:cNvSpPr txBox="1"/>
          <p:nvPr/>
        </p:nvSpPr>
        <p:spPr>
          <a:xfrm>
            <a:off x="731520" y="1572768"/>
            <a:ext cx="3200400" cy="320040"/>
          </a:xfrm>
          <a:prstGeom prst="rect">
            <a:avLst/>
          </a:prstGeom>
          <a:noFill/>
          <a:ln/>
        </p:spPr>
        <p:txBody>
          <a:bodyPr wrap="square" lIns="0" tIns="0" rIns="0" bIns="0" rtlCol="0" anchor="ctr"/>
          <a:lstStyle/>
          <a:p>
            <a:pPr indent="0" marL="0">
              <a:buNone/>
            </a:pPr>
            <a:r>
              <a:rPr lang="en-US" sz="1800" b="1" dirty="0">
                <a:solidFill>
                  <a:schemeClr val="tx1"/>
                </a:solidFill>
              </a:rPr>
              <a:t>What we found</a:t>
            </a:r>
            <a:endParaRPr lang="en-US" sz="1800" dirty="0"/>
          </a:p>
        </p:txBody>
      </p:sp>
      <p:sp>
        <p:nvSpPr>
          <p:cNvPr id="6" name="Text 4"/>
          <p:cNvSpPr txBox="1"/>
          <p:nvPr/>
        </p:nvSpPr>
        <p:spPr>
          <a:xfrm>
            <a:off x="731520" y="1965960"/>
            <a:ext cx="3246120" cy="2423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One facade, swappable strategies and a vehicle hierarchy cover all eleven OOP concepts.</a:t>
            </a:r>
            <a:endParaRPr lang="en-US" sz="1400" dirty="0"/>
          </a:p>
          <a:p>
            <a:pPr marL="342900" indent="-342900">
              <a:spcAft>
                <a:spcPts val="600"/>
              </a:spcAft>
              <a:buSzPct val="100000"/>
              <a:buChar char="•"/>
            </a:pPr>
            <a:r>
              <a:rPr lang="en-US" sz="1400" dirty="0">
                <a:solidFill>
                  <a:schemeClr val="tx1"/>
                </a:solidFill>
              </a:rPr>
              <a:t>BALANCED is up to 6.3 h faster than NEAREST on larger networks.</a:t>
            </a:r>
            <a:endParaRPr lang="en-US" sz="1400" dirty="0"/>
          </a:p>
          <a:p>
            <a:pPr marL="342900" indent="-342900">
              <a:spcAft>
                <a:spcPts val="600"/>
              </a:spcAft>
              <a:buSzPct val="100000"/>
              <a:buChar char="•"/>
            </a:pPr>
            <a:r>
              <a:rPr lang="en-US" sz="1400" dirty="0">
                <a:solidFill>
                  <a:schemeClr val="tx1"/>
                </a:solidFill>
              </a:rPr>
              <a:t>Coordination cuts lead time by 47 to 59% against a random baseline.</a:t>
            </a:r>
            <a:endParaRPr lang="en-US" sz="1400" dirty="0"/>
          </a:p>
        </p:txBody>
      </p:sp>
      <p:sp>
        <p:nvSpPr>
          <p:cNvPr id="7" name="Card"/>
          <p:cNvSpPr/>
          <p:nvPr/>
        </p:nvSpPr>
        <p:spPr>
          <a:xfrm>
            <a:off x="4297680" y="1481328"/>
            <a:ext cx="3593592" cy="3017520"/>
          </a:xfrm>
          <a:prstGeom prst="rect">
            <a:avLst/>
          </a:prstGeom>
          <a:solidFill>
            <a:srgbClr val="FFF4E0"/>
          </a:solidFill>
          <a:ln/>
          <a:effectLst>
            <a:outerShdw sx="100000" sy="100000" kx="0" ky="0" algn="bl" rotWithShape="0" blurRad="101600" dist="25400" dir="5400000">
              <a:srgbClr val="000000">
                <a:alpha val="12000"/>
              </a:srgbClr>
            </a:outerShdw>
          </a:effectLst>
        </p:spPr>
      </p:sp>
      <p:sp>
        <p:nvSpPr>
          <p:cNvPr id="8" name="Text 6"/>
          <p:cNvSpPr txBox="1"/>
          <p:nvPr/>
        </p:nvSpPr>
        <p:spPr>
          <a:xfrm>
            <a:off x="4480560" y="1572768"/>
            <a:ext cx="3200400" cy="320040"/>
          </a:xfrm>
          <a:prstGeom prst="rect">
            <a:avLst/>
          </a:prstGeom>
          <a:noFill/>
          <a:ln/>
        </p:spPr>
        <p:txBody>
          <a:bodyPr wrap="square" lIns="0" tIns="0" rIns="0" bIns="0" rtlCol="0" anchor="ctr"/>
          <a:lstStyle/>
          <a:p>
            <a:pPr indent="0" marL="0">
              <a:buNone/>
            </a:pPr>
            <a:r>
              <a:rPr lang="en-US" sz="1800" b="1" dirty="0">
                <a:solidFill>
                  <a:schemeClr val="tx1"/>
                </a:solidFill>
              </a:rPr>
              <a:t>Limits</a:t>
            </a:r>
            <a:endParaRPr lang="en-US" sz="1800" dirty="0"/>
          </a:p>
        </p:txBody>
      </p:sp>
      <p:sp>
        <p:nvSpPr>
          <p:cNvPr id="9" name="Text 7"/>
          <p:cNvSpPr txBox="1"/>
          <p:nvPr/>
        </p:nvSpPr>
        <p:spPr>
          <a:xfrm>
            <a:off x="4480560" y="1965960"/>
            <a:ext cx="3246120" cy="2423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All data is synthetic, with straight-line distances and constant speeds.</a:t>
            </a:r>
            <a:endParaRPr lang="en-US" sz="1400" dirty="0"/>
          </a:p>
          <a:p>
            <a:pPr marL="342900" indent="-342900">
              <a:spcAft>
                <a:spcPts val="600"/>
              </a:spcAft>
              <a:buSzPct val="100000"/>
              <a:buChar char="•"/>
            </a:pPr>
            <a:r>
              <a:rPr lang="en-US" sz="1400" dirty="0">
                <a:solidFill>
                  <a:schemeClr val="tx1"/>
                </a:solidFill>
              </a:rPr>
              <a:t>About 2% of requests stay open, mostly fuel requests: fuel trucks are few and slow.</a:t>
            </a:r>
            <a:endParaRPr lang="en-US" sz="1400" dirty="0"/>
          </a:p>
          <a:p>
            <a:pPr marL="342900" indent="-342900">
              <a:spcAft>
                <a:spcPts val="600"/>
              </a:spcAft>
              <a:buSzPct val="100000"/>
              <a:buChar char="•"/>
            </a:pPr>
            <a:r>
              <a:rPr lang="en-US" sz="1400" dirty="0">
                <a:solidFill>
                  <a:schemeClr val="tx1"/>
                </a:solidFill>
              </a:rPr>
              <a:t>The random baseline is weak by design.</a:t>
            </a:r>
            <a:endParaRPr lang="en-US" sz="1400" dirty="0"/>
          </a:p>
        </p:txBody>
      </p:sp>
      <p:sp>
        <p:nvSpPr>
          <p:cNvPr id="10" name="Card"/>
          <p:cNvSpPr/>
          <p:nvPr/>
        </p:nvSpPr>
        <p:spPr>
          <a:xfrm>
            <a:off x="8046720" y="1481328"/>
            <a:ext cx="3593592" cy="3017520"/>
          </a:xfrm>
          <a:prstGeom prst="rect">
            <a:avLst/>
          </a:prstGeom>
          <a:solidFill>
            <a:srgbClr val="FFF4E0"/>
          </a:solidFill>
          <a:ln/>
          <a:effectLst>
            <a:outerShdw sx="100000" sy="100000" kx="0" ky="0" algn="bl" rotWithShape="0" blurRad="101600" dist="25400" dir="5400000">
              <a:srgbClr val="000000">
                <a:alpha val="12000"/>
              </a:srgbClr>
            </a:outerShdw>
          </a:effectLst>
        </p:spPr>
      </p:sp>
      <p:sp>
        <p:nvSpPr>
          <p:cNvPr id="11" name="Text 9"/>
          <p:cNvSpPr txBox="1"/>
          <p:nvPr/>
        </p:nvSpPr>
        <p:spPr>
          <a:xfrm>
            <a:off x="8229600" y="1572768"/>
            <a:ext cx="3200400" cy="320040"/>
          </a:xfrm>
          <a:prstGeom prst="rect">
            <a:avLst/>
          </a:prstGeom>
          <a:noFill/>
          <a:ln/>
        </p:spPr>
        <p:txBody>
          <a:bodyPr wrap="square" lIns="0" tIns="0" rIns="0" bIns="0" rtlCol="0" anchor="ctr"/>
          <a:lstStyle/>
          <a:p>
            <a:pPr indent="0" marL="0">
              <a:buNone/>
            </a:pPr>
            <a:r>
              <a:rPr lang="en-US" sz="1800" b="1" dirty="0">
                <a:solidFill>
                  <a:schemeClr val="tx1"/>
                </a:solidFill>
              </a:rPr>
              <a:t>Next</a:t>
            </a:r>
            <a:endParaRPr lang="en-US" sz="1800" dirty="0"/>
          </a:p>
        </p:txBody>
      </p:sp>
      <p:sp>
        <p:nvSpPr>
          <p:cNvPr id="12" name="Text 10"/>
          <p:cNvSpPr txBox="1"/>
          <p:nvPr/>
        </p:nvSpPr>
        <p:spPr>
          <a:xfrm>
            <a:off x="8229600" y="1965960"/>
            <a:ext cx="3246120" cy="2423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Test a longer horizon and a bigger fuel fleet.</a:t>
            </a:r>
            <a:endParaRPr lang="en-US" sz="1400" dirty="0"/>
          </a:p>
          <a:p>
            <a:pPr marL="342900" indent="-342900">
              <a:spcAft>
                <a:spcPts val="600"/>
              </a:spcAft>
              <a:buSzPct val="100000"/>
              <a:buChar char="•"/>
            </a:pPr>
            <a:r>
              <a:rPr lang="en-US" sz="1400" dirty="0">
                <a:solidFill>
                  <a:schemeClr val="tx1"/>
                </a:solidFill>
              </a:rPr>
              <a:t>Try stronger baselines, such as a hand-written dispatcher rule.</a:t>
            </a:r>
            <a:endParaRPr lang="en-US" sz="1400" dirty="0"/>
          </a:p>
          <a:p>
            <a:pPr marL="342900" indent="-342900">
              <a:spcAft>
                <a:spcPts val="600"/>
              </a:spcAft>
              <a:buSzPct val="100000"/>
              <a:buChar char="•"/>
            </a:pPr>
            <a:r>
              <a:rPr lang="en-US" sz="1400" dirty="0">
                <a:solidFill>
                  <a:schemeClr val="tx1"/>
                </a:solidFill>
              </a:rPr>
              <a:t>Use a real road network and stock replenishment.</a:t>
            </a:r>
            <a:endParaRPr lang="en-US" sz="1400" dirty="0"/>
          </a:p>
        </p:txBody>
      </p:sp>
      <p:sp>
        <p:nvSpPr>
          <p:cNvPr id="13" name="Text 11"/>
          <p:cNvSpPr txBox="1"/>
          <p:nvPr/>
        </p:nvSpPr>
        <p:spPr>
          <a:xfrm>
            <a:off x="548640" y="4846320"/>
            <a:ext cx="1371600" cy="365760"/>
          </a:xfrm>
          <a:prstGeom prst="rect">
            <a:avLst/>
          </a:prstGeom>
          <a:noFill/>
          <a:ln/>
        </p:spPr>
        <p:txBody>
          <a:bodyPr wrap="square" lIns="0" tIns="0" rIns="0" bIns="0" rtlCol="0" anchor="ctr"/>
          <a:lstStyle/>
          <a:p>
            <a:pPr indent="0" marL="0">
              <a:buNone/>
            </a:pPr>
            <a:r>
              <a:rPr lang="en-US" sz="2200" b="1" dirty="0">
                <a:solidFill>
                  <a:schemeClr val="tx1"/>
                </a:solidFill>
              </a:rPr>
              <a:t>FAQs</a:t>
            </a:r>
            <a:endParaRPr lang="en-US" sz="2200" dirty="0"/>
          </a:p>
        </p:txBody>
      </p:sp>
      <p:sp>
        <p:nvSpPr>
          <p:cNvPr id="14" name="Text 12"/>
          <p:cNvSpPr txBox="1"/>
          <p:nvPr/>
        </p:nvSpPr>
        <p:spPr>
          <a:xfrm>
            <a:off x="2011680" y="4800600"/>
            <a:ext cx="9601200" cy="128016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Is this real defence data? </a:t>
            </a:r>
            <a:pPr indent="0" marL="0">
              <a:spcAft>
                <a:spcPts val="600"/>
              </a:spcAft>
              <a:buNone/>
            </a:pPr>
            <a:r>
              <a:rPr lang="en-US" sz="1600" dirty="0">
                <a:solidFill>
                  <a:schemeClr val="tx1"/>
                </a:solidFill>
              </a:rPr>
              <a:t>No. Everything is generated, with only base names taken from real cities.</a:t>
            </a:r>
            <a:endParaRPr lang="en-US" sz="1600" dirty="0"/>
          </a:p>
          <a:p>
            <a:pPr indent="0" marL="0">
              <a:spcAft>
                <a:spcPts val="600"/>
              </a:spcAft>
              <a:buNone/>
            </a:pPr>
            <a:r>
              <a:rPr lang="en-US" sz="1600" b="1" dirty="0">
                <a:solidFill>
                  <a:schemeClr val="tx1"/>
                </a:solidFill>
              </a:rPr>
              <a:t>Why do some requests stay open? </a:t>
            </a:r>
            <a:pPr indent="0" marL="0">
              <a:spcAft>
                <a:spcPts val="600"/>
              </a:spcAft>
              <a:buNone/>
            </a:pPr>
            <a:r>
              <a:rPr lang="en-US" sz="1600" dirty="0">
                <a:solidFill>
                  <a:schemeClr val="tx1"/>
                </a:solidFill>
              </a:rPr>
              <a:t>Donors keep a reorder floor, and fuel trucks are few. We did not test a longer horizon.</a:t>
            </a:r>
            <a:endParaRPr lang="en-US" sz="1600" dirty="0"/>
          </a:p>
        </p:txBody>
      </p:sp>
      <p:sp>
        <p:nvSpPr>
          <p:cNvPr id="15" name="Source"/>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chemeClr val="tx1"/>
                </a:solidFill>
              </a:rPr>
              <a:t>Defence Logistics and Supply Chain Management System · Pathak, Shah, Thakran · full report: Project_Report.pdf</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DLSCMS">
  <a:themeElements>
    <a:clrScheme name="DLSCMS">
      <a:dk1>
        <a:srgbClr val="0E1A2B"/>
      </a:dk1>
      <a:lt1>
        <a:srgbClr val="FFFFFF"/>
      </a:lt1>
      <a:dk2>
        <a:srgbClr val="1C2C45"/>
      </a:dk2>
      <a:lt2>
        <a:srgbClr val="F4F0E6"/>
      </a:lt2>
      <a:accent1>
        <a:srgbClr val="C4590A"/>
      </a:accent1>
      <a:accent2>
        <a:srgbClr val="F2A33A"/>
      </a:accent2>
      <a:accent3>
        <a:srgbClr val="2F6FA8"/>
      </a:accent3>
      <a:accent4>
        <a:srgbClr val="3E9B6B"/>
      </a:accent4>
      <a:accent5>
        <a:srgbClr val="7A828E"/>
      </a:accent5>
      <a:accent6>
        <a:srgbClr val="FBE8C8"/>
      </a:accent6>
      <a:hlink>
        <a:srgbClr val="2F6FA8"/>
      </a:hlink>
      <a:folHlink>
        <a:srgbClr val="7A828E"/>
      </a:folHlink>
    </a:clrScheme>
    <a:fontScheme name="DLSCM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Defence Logistics and Supply Chain Management System</dc:title>
  <dc:subject>PptxGenJS Presentation</dc:subject>
  <dc:creator>Vedant Pathak, Dhairya Shah, Kanishak Thakran</dc:creator>
  <cp:lastModifiedBy>Vedant Pathak, Dhairya Shah, Kanishak Thakran</cp:lastModifiedBy>
  <cp:revision>1</cp:revision>
  <dcterms:created xsi:type="dcterms:W3CDTF">2026-10-26T20:50:20Z</dcterms:created>
  <dcterms:modified xsi:type="dcterms:W3CDTF">2026-10-26T20:50:20Z</dcterms:modified>
</cp:coreProperties>
</file>